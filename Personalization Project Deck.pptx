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oboto Black"/>
      <p:bold r:id="rId19"/>
      <p:boldItalic r:id="rId20"/>
    </p:embeddedFont>
    <p:embeddedFont>
      <p:font typeface="Roboto"/>
      <p:regular r:id="rId21"/>
      <p:bold r:id="rId22"/>
      <p:italic r:id="rId23"/>
      <p:boldItalic r:id="rId24"/>
    </p:embeddedFont>
    <p:embeddedFont>
      <p:font typeface="Roboto Medium"/>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lack-boldItalic.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edium-bold.fntdata"/><Relationship Id="rId25" Type="http://schemas.openxmlformats.org/officeDocument/2006/relationships/font" Target="fonts/RobotoMedium-regular.fntdata"/><Relationship Id="rId28" Type="http://schemas.openxmlformats.org/officeDocument/2006/relationships/font" Target="fonts/RobotoMedium-boldItalic.fntdata"/><Relationship Id="rId27" Type="http://schemas.openxmlformats.org/officeDocument/2006/relationships/font" Target="fonts/Roboto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Black-bold.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9af7b2f7b7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9af7b2f7b7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9af7b2f7b7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29af7b2f7b7_0_4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6153ff514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26153ff514c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Based on my experience in myeo, we have studied that users are having the scattered learning experience without direction. </a:t>
            </a:r>
            <a:r>
              <a:rPr lang="en"/>
              <a:t>Their</a:t>
            </a:r>
            <a:r>
              <a:rPr lang="en"/>
              <a:t> experience has been significantly improved with personalized feedback based on their skills and goals.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153ff514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26153ff514c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9af7b2f7b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29af7b2f7b7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9b0d8fabf6_1_1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29b0d8fabf6_1_1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9b0d8fabf6_1_1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29b0d8fabf6_1_10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 terms of demographic, 47% are rural regions where they have less quality education. Thus, I would say the intensity of impact is high. Again, we are empowering women to keep the education and upgrade their ed as you can see in data, we have 64% women.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9b0d8fabf6_1_1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29b0d8fabf6_1_1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Lastly, we have a mission of empowering 1.1% of MM population progressively who are graduating every year. That’s </a:t>
            </a:r>
            <a:r>
              <a:rPr lang="en"/>
              <a:t>raising</a:t>
            </a:r>
            <a:r>
              <a:rPr lang="en"/>
              <a:t> the capability of human potential for an equitable world.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9b0d8fabf6_1_1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29b0d8fabf6_1_1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616c3f0a2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2616c3f0a22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 a conclusion, we are having the problem which impacts from organizational level to community. We are solving that complex problems by this project and initiating to more effective solutions with data and tech. It will impact to 77,000+ users directly and right away and in border and ultimate long run, it is contributing to empowering of 1.1% of human potential in Myanmar.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9b0d8fabf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9b0d8fabf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cafbd3f8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2cafbd3f82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e7ab5fb2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2e7ab5fb26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
    <p:spTree>
      <p:nvGrpSpPr>
        <p:cNvPr id="51" name="Shape 51"/>
        <p:cNvGrpSpPr/>
        <p:nvPr/>
      </p:nvGrpSpPr>
      <p:grpSpPr>
        <a:xfrm>
          <a:off x="0" y="0"/>
          <a:ext cx="0" cy="0"/>
          <a:chOff x="0" y="0"/>
          <a:chExt cx="0" cy="0"/>
        </a:xfrm>
      </p:grpSpPr>
      <p:sp>
        <p:nvSpPr>
          <p:cNvPr id="52" name="Google Shape;5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type="title"/>
          </p:nvPr>
        </p:nvSpPr>
        <p:spPr>
          <a:xfrm>
            <a:off x="201700" y="198125"/>
            <a:ext cx="5902200" cy="11259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400"/>
              <a:buFont typeface="Roboto"/>
              <a:buNone/>
              <a:defRPr b="0" i="0" sz="2400" u="none" cap="none" strike="noStrike">
                <a:solidFill>
                  <a:srgbClr val="000000"/>
                </a:solidFill>
                <a:latin typeface="Roboto"/>
                <a:ea typeface="Roboto"/>
                <a:cs typeface="Roboto"/>
                <a:sym typeface="Roboto"/>
              </a:defRPr>
            </a:lvl1pPr>
            <a:lvl2pPr lvl="1" marR="0" rtl="0" algn="l">
              <a:lnSpc>
                <a:spcPct val="100000"/>
              </a:lnSpc>
              <a:spcBef>
                <a:spcPts val="0"/>
              </a:spcBef>
              <a:spcAft>
                <a:spcPts val="0"/>
              </a:spcAft>
              <a:buClr>
                <a:srgbClr val="000000"/>
              </a:buClr>
              <a:buSzPts val="2400"/>
              <a:buFont typeface="Roboto"/>
              <a:buNone/>
              <a:defRPr b="0" i="0" sz="2400" u="none" cap="none" strike="noStrike">
                <a:solidFill>
                  <a:srgbClr val="000000"/>
                </a:solidFill>
                <a:latin typeface="Roboto"/>
                <a:ea typeface="Roboto"/>
                <a:cs typeface="Roboto"/>
                <a:sym typeface="Roboto"/>
              </a:defRPr>
            </a:lvl2pPr>
            <a:lvl3pPr lvl="2" marR="0" rtl="0" algn="l">
              <a:lnSpc>
                <a:spcPct val="100000"/>
              </a:lnSpc>
              <a:spcBef>
                <a:spcPts val="0"/>
              </a:spcBef>
              <a:spcAft>
                <a:spcPts val="0"/>
              </a:spcAft>
              <a:buClr>
                <a:srgbClr val="000000"/>
              </a:buClr>
              <a:buSzPts val="2400"/>
              <a:buFont typeface="Roboto"/>
              <a:buNone/>
              <a:defRPr b="0" i="0" sz="2400" u="none" cap="none" strike="noStrike">
                <a:solidFill>
                  <a:srgbClr val="000000"/>
                </a:solidFill>
                <a:latin typeface="Roboto"/>
                <a:ea typeface="Roboto"/>
                <a:cs typeface="Roboto"/>
                <a:sym typeface="Roboto"/>
              </a:defRPr>
            </a:lvl3pPr>
            <a:lvl4pPr lvl="3" marR="0" rtl="0" algn="l">
              <a:lnSpc>
                <a:spcPct val="100000"/>
              </a:lnSpc>
              <a:spcBef>
                <a:spcPts val="0"/>
              </a:spcBef>
              <a:spcAft>
                <a:spcPts val="0"/>
              </a:spcAft>
              <a:buClr>
                <a:srgbClr val="000000"/>
              </a:buClr>
              <a:buSzPts val="2400"/>
              <a:buFont typeface="Roboto"/>
              <a:buNone/>
              <a:defRPr b="0" i="0" sz="2400" u="none" cap="none" strike="noStrike">
                <a:solidFill>
                  <a:srgbClr val="000000"/>
                </a:solidFill>
                <a:latin typeface="Roboto"/>
                <a:ea typeface="Roboto"/>
                <a:cs typeface="Roboto"/>
                <a:sym typeface="Roboto"/>
              </a:defRPr>
            </a:lvl4pPr>
            <a:lvl5pPr lvl="4" marR="0" rtl="0" algn="l">
              <a:lnSpc>
                <a:spcPct val="100000"/>
              </a:lnSpc>
              <a:spcBef>
                <a:spcPts val="0"/>
              </a:spcBef>
              <a:spcAft>
                <a:spcPts val="0"/>
              </a:spcAft>
              <a:buClr>
                <a:srgbClr val="000000"/>
              </a:buClr>
              <a:buSzPts val="2400"/>
              <a:buFont typeface="Roboto"/>
              <a:buNone/>
              <a:defRPr b="0" i="0" sz="2400" u="none" cap="none" strike="noStrike">
                <a:solidFill>
                  <a:srgbClr val="000000"/>
                </a:solidFill>
                <a:latin typeface="Roboto"/>
                <a:ea typeface="Roboto"/>
                <a:cs typeface="Roboto"/>
                <a:sym typeface="Roboto"/>
              </a:defRPr>
            </a:lvl5pPr>
            <a:lvl6pPr lvl="5" marR="0" rtl="0" algn="l">
              <a:lnSpc>
                <a:spcPct val="100000"/>
              </a:lnSpc>
              <a:spcBef>
                <a:spcPts val="0"/>
              </a:spcBef>
              <a:spcAft>
                <a:spcPts val="0"/>
              </a:spcAft>
              <a:buClr>
                <a:srgbClr val="000000"/>
              </a:buClr>
              <a:buSzPts val="2400"/>
              <a:buFont typeface="Roboto"/>
              <a:buNone/>
              <a:defRPr b="0" i="0" sz="2400" u="none" cap="none" strike="noStrike">
                <a:solidFill>
                  <a:srgbClr val="000000"/>
                </a:solidFill>
                <a:latin typeface="Roboto"/>
                <a:ea typeface="Roboto"/>
                <a:cs typeface="Roboto"/>
                <a:sym typeface="Roboto"/>
              </a:defRPr>
            </a:lvl6pPr>
            <a:lvl7pPr lvl="6" marR="0" rtl="0" algn="l">
              <a:lnSpc>
                <a:spcPct val="100000"/>
              </a:lnSpc>
              <a:spcBef>
                <a:spcPts val="0"/>
              </a:spcBef>
              <a:spcAft>
                <a:spcPts val="0"/>
              </a:spcAft>
              <a:buClr>
                <a:srgbClr val="000000"/>
              </a:buClr>
              <a:buSzPts val="2400"/>
              <a:buFont typeface="Roboto"/>
              <a:buNone/>
              <a:defRPr b="0" i="0" sz="2400" u="none" cap="none" strike="noStrike">
                <a:solidFill>
                  <a:srgbClr val="000000"/>
                </a:solidFill>
                <a:latin typeface="Roboto"/>
                <a:ea typeface="Roboto"/>
                <a:cs typeface="Roboto"/>
                <a:sym typeface="Roboto"/>
              </a:defRPr>
            </a:lvl7pPr>
            <a:lvl8pPr lvl="7" marR="0" rtl="0" algn="l">
              <a:lnSpc>
                <a:spcPct val="100000"/>
              </a:lnSpc>
              <a:spcBef>
                <a:spcPts val="0"/>
              </a:spcBef>
              <a:spcAft>
                <a:spcPts val="0"/>
              </a:spcAft>
              <a:buClr>
                <a:srgbClr val="000000"/>
              </a:buClr>
              <a:buSzPts val="2400"/>
              <a:buFont typeface="Roboto"/>
              <a:buNone/>
              <a:defRPr b="0" i="0" sz="2400" u="none" cap="none" strike="noStrike">
                <a:solidFill>
                  <a:srgbClr val="000000"/>
                </a:solidFill>
                <a:latin typeface="Roboto"/>
                <a:ea typeface="Roboto"/>
                <a:cs typeface="Roboto"/>
                <a:sym typeface="Roboto"/>
              </a:defRPr>
            </a:lvl8pPr>
            <a:lvl9pPr lvl="8" marR="0" rtl="0" algn="l">
              <a:lnSpc>
                <a:spcPct val="100000"/>
              </a:lnSpc>
              <a:spcBef>
                <a:spcPts val="0"/>
              </a:spcBef>
              <a:spcAft>
                <a:spcPts val="0"/>
              </a:spcAft>
              <a:buClr>
                <a:srgbClr val="000000"/>
              </a:buClr>
              <a:buSzPts val="2400"/>
              <a:buFont typeface="Roboto"/>
              <a:buNone/>
              <a:defRPr b="0" i="0" sz="2400" u="none" cap="none" strike="noStrike">
                <a:solidFill>
                  <a:srgbClr val="000000"/>
                </a:solidFill>
                <a:latin typeface="Roboto"/>
                <a:ea typeface="Roboto"/>
                <a:cs typeface="Roboto"/>
                <a:sym typeface="Roboto"/>
              </a:defRPr>
            </a:lvl9pPr>
          </a:lstStyle>
          <a:p/>
        </p:txBody>
      </p:sp>
      <p:sp>
        <p:nvSpPr>
          <p:cNvPr id="54" name="Google Shape;54;p13"/>
          <p:cNvSpPr txBox="1"/>
          <p:nvPr>
            <p:ph idx="1" type="subTitle"/>
          </p:nvPr>
        </p:nvSpPr>
        <p:spPr>
          <a:xfrm>
            <a:off x="88350" y="4683900"/>
            <a:ext cx="6696300" cy="206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666666"/>
              </a:buClr>
              <a:buSzPts val="800"/>
              <a:buFont typeface="Roboto"/>
              <a:buNone/>
              <a:defRPr b="0" i="0" sz="800" u="none" cap="none" strike="noStrike">
                <a:solidFill>
                  <a:srgbClr val="666666"/>
                </a:solidFill>
                <a:latin typeface="Roboto"/>
                <a:ea typeface="Roboto"/>
                <a:cs typeface="Roboto"/>
                <a:sym typeface="Roboto"/>
              </a:defRPr>
            </a:lvl1pPr>
            <a:lvl2pPr lvl="1" marR="0" rtl="0" algn="l">
              <a:lnSpc>
                <a:spcPct val="100000"/>
              </a:lnSpc>
              <a:spcBef>
                <a:spcPts val="0"/>
              </a:spcBef>
              <a:spcAft>
                <a:spcPts val="0"/>
              </a:spcAft>
              <a:buClr>
                <a:srgbClr val="B7B7B7"/>
              </a:buClr>
              <a:buSzPts val="800"/>
              <a:buFont typeface="Roboto"/>
              <a:buNone/>
              <a:defRPr b="0" i="0" sz="800" u="none" cap="none" strike="noStrike">
                <a:solidFill>
                  <a:srgbClr val="B7B7B7"/>
                </a:solidFill>
                <a:latin typeface="Roboto"/>
                <a:ea typeface="Roboto"/>
                <a:cs typeface="Roboto"/>
                <a:sym typeface="Roboto"/>
              </a:defRPr>
            </a:lvl2pPr>
            <a:lvl3pPr lvl="2" marR="0" rtl="0" algn="l">
              <a:lnSpc>
                <a:spcPct val="100000"/>
              </a:lnSpc>
              <a:spcBef>
                <a:spcPts val="0"/>
              </a:spcBef>
              <a:spcAft>
                <a:spcPts val="0"/>
              </a:spcAft>
              <a:buClr>
                <a:srgbClr val="B7B7B7"/>
              </a:buClr>
              <a:buSzPts val="800"/>
              <a:buFont typeface="Roboto"/>
              <a:buNone/>
              <a:defRPr b="0" i="0" sz="800" u="none" cap="none" strike="noStrike">
                <a:solidFill>
                  <a:srgbClr val="B7B7B7"/>
                </a:solidFill>
                <a:latin typeface="Roboto"/>
                <a:ea typeface="Roboto"/>
                <a:cs typeface="Roboto"/>
                <a:sym typeface="Roboto"/>
              </a:defRPr>
            </a:lvl3pPr>
            <a:lvl4pPr lvl="3" marR="0" rtl="0" algn="l">
              <a:lnSpc>
                <a:spcPct val="100000"/>
              </a:lnSpc>
              <a:spcBef>
                <a:spcPts val="0"/>
              </a:spcBef>
              <a:spcAft>
                <a:spcPts val="0"/>
              </a:spcAft>
              <a:buClr>
                <a:srgbClr val="B7B7B7"/>
              </a:buClr>
              <a:buSzPts val="800"/>
              <a:buFont typeface="Roboto"/>
              <a:buNone/>
              <a:defRPr b="0" i="0" sz="800" u="none" cap="none" strike="noStrike">
                <a:solidFill>
                  <a:srgbClr val="B7B7B7"/>
                </a:solidFill>
                <a:latin typeface="Roboto"/>
                <a:ea typeface="Roboto"/>
                <a:cs typeface="Roboto"/>
                <a:sym typeface="Roboto"/>
              </a:defRPr>
            </a:lvl4pPr>
            <a:lvl5pPr lvl="4" marR="0" rtl="0" algn="l">
              <a:lnSpc>
                <a:spcPct val="100000"/>
              </a:lnSpc>
              <a:spcBef>
                <a:spcPts val="0"/>
              </a:spcBef>
              <a:spcAft>
                <a:spcPts val="0"/>
              </a:spcAft>
              <a:buClr>
                <a:srgbClr val="B7B7B7"/>
              </a:buClr>
              <a:buSzPts val="800"/>
              <a:buFont typeface="Roboto"/>
              <a:buNone/>
              <a:defRPr b="0" i="0" sz="800" u="none" cap="none" strike="noStrike">
                <a:solidFill>
                  <a:srgbClr val="B7B7B7"/>
                </a:solidFill>
                <a:latin typeface="Roboto"/>
                <a:ea typeface="Roboto"/>
                <a:cs typeface="Roboto"/>
                <a:sym typeface="Roboto"/>
              </a:defRPr>
            </a:lvl5pPr>
            <a:lvl6pPr lvl="5" marR="0" rtl="0" algn="l">
              <a:lnSpc>
                <a:spcPct val="100000"/>
              </a:lnSpc>
              <a:spcBef>
                <a:spcPts val="0"/>
              </a:spcBef>
              <a:spcAft>
                <a:spcPts val="0"/>
              </a:spcAft>
              <a:buClr>
                <a:srgbClr val="B7B7B7"/>
              </a:buClr>
              <a:buSzPts val="800"/>
              <a:buFont typeface="Roboto"/>
              <a:buNone/>
              <a:defRPr b="0" i="0" sz="800" u="none" cap="none" strike="noStrike">
                <a:solidFill>
                  <a:srgbClr val="B7B7B7"/>
                </a:solidFill>
                <a:latin typeface="Roboto"/>
                <a:ea typeface="Roboto"/>
                <a:cs typeface="Roboto"/>
                <a:sym typeface="Roboto"/>
              </a:defRPr>
            </a:lvl6pPr>
            <a:lvl7pPr lvl="6" marR="0" rtl="0" algn="l">
              <a:lnSpc>
                <a:spcPct val="100000"/>
              </a:lnSpc>
              <a:spcBef>
                <a:spcPts val="0"/>
              </a:spcBef>
              <a:spcAft>
                <a:spcPts val="0"/>
              </a:spcAft>
              <a:buClr>
                <a:srgbClr val="B7B7B7"/>
              </a:buClr>
              <a:buSzPts val="800"/>
              <a:buFont typeface="Roboto"/>
              <a:buNone/>
              <a:defRPr b="0" i="0" sz="800" u="none" cap="none" strike="noStrike">
                <a:solidFill>
                  <a:srgbClr val="B7B7B7"/>
                </a:solidFill>
                <a:latin typeface="Roboto"/>
                <a:ea typeface="Roboto"/>
                <a:cs typeface="Roboto"/>
                <a:sym typeface="Roboto"/>
              </a:defRPr>
            </a:lvl7pPr>
            <a:lvl8pPr lvl="7" marR="0" rtl="0" algn="l">
              <a:lnSpc>
                <a:spcPct val="100000"/>
              </a:lnSpc>
              <a:spcBef>
                <a:spcPts val="0"/>
              </a:spcBef>
              <a:spcAft>
                <a:spcPts val="0"/>
              </a:spcAft>
              <a:buClr>
                <a:srgbClr val="B7B7B7"/>
              </a:buClr>
              <a:buSzPts val="800"/>
              <a:buFont typeface="Roboto"/>
              <a:buNone/>
              <a:defRPr b="0" i="0" sz="800" u="none" cap="none" strike="noStrike">
                <a:solidFill>
                  <a:srgbClr val="B7B7B7"/>
                </a:solidFill>
                <a:latin typeface="Roboto"/>
                <a:ea typeface="Roboto"/>
                <a:cs typeface="Roboto"/>
                <a:sym typeface="Roboto"/>
              </a:defRPr>
            </a:lvl8pPr>
            <a:lvl9pPr lvl="8" marR="0" rtl="0" algn="l">
              <a:lnSpc>
                <a:spcPct val="100000"/>
              </a:lnSpc>
              <a:spcBef>
                <a:spcPts val="0"/>
              </a:spcBef>
              <a:spcAft>
                <a:spcPts val="0"/>
              </a:spcAft>
              <a:buClr>
                <a:srgbClr val="B7B7B7"/>
              </a:buClr>
              <a:buSzPts val="800"/>
              <a:buFont typeface="Roboto"/>
              <a:buNone/>
              <a:defRPr b="0" i="0" sz="800" u="none" cap="none" strike="noStrike">
                <a:solidFill>
                  <a:srgbClr val="B7B7B7"/>
                </a:solidFill>
                <a:latin typeface="Roboto"/>
                <a:ea typeface="Roboto"/>
                <a:cs typeface="Roboto"/>
                <a:sym typeface="Roboto"/>
              </a:defRPr>
            </a:lvl9pPr>
          </a:lstStyle>
          <a:p/>
        </p:txBody>
      </p:sp>
      <p:cxnSp>
        <p:nvCxnSpPr>
          <p:cNvPr id="55" name="Google Shape;55;p13"/>
          <p:cNvCxnSpPr/>
          <p:nvPr/>
        </p:nvCxnSpPr>
        <p:spPr>
          <a:xfrm rot="10800000">
            <a:off x="175465" y="4720050"/>
            <a:ext cx="7911600" cy="0"/>
          </a:xfrm>
          <a:prstGeom prst="straightConnector1">
            <a:avLst/>
          </a:prstGeom>
          <a:noFill/>
          <a:ln cap="flat" cmpd="sng" w="9525">
            <a:solidFill>
              <a:srgbClr val="7DBC4C"/>
            </a:solidFill>
            <a:prstDash val="solid"/>
            <a:round/>
            <a:headEnd len="sm" w="sm" type="none"/>
            <a:tailEnd len="sm" w="sm" type="none"/>
          </a:ln>
        </p:spPr>
      </p:cxnSp>
      <p:pic>
        <p:nvPicPr>
          <p:cNvPr id="56" name="Google Shape;56;p13"/>
          <p:cNvPicPr preferRelativeResize="0"/>
          <p:nvPr/>
        </p:nvPicPr>
        <p:blipFill rotWithShape="1">
          <a:blip r:embed="rId2">
            <a:alphaModFix/>
          </a:blip>
          <a:srcRect b="0" l="0" r="0" t="0"/>
          <a:stretch/>
        </p:blipFill>
        <p:spPr>
          <a:xfrm>
            <a:off x="8281824" y="4238756"/>
            <a:ext cx="660575" cy="6183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914825" y="1306875"/>
            <a:ext cx="537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rotWithShape="1">
          <a:blip r:embed="rId3">
            <a:alphaModFix/>
          </a:blip>
          <a:srcRect b="23859" l="-6050" r="6050" t="2066"/>
          <a:stretch/>
        </p:blipFill>
        <p:spPr>
          <a:xfrm>
            <a:off x="2866225" y="583225"/>
            <a:ext cx="4288198" cy="4189257"/>
          </a:xfrm>
          <a:prstGeom prst="rect">
            <a:avLst/>
          </a:prstGeom>
          <a:noFill/>
          <a:ln>
            <a:noFill/>
          </a:ln>
        </p:spPr>
      </p:pic>
      <p:sp>
        <p:nvSpPr>
          <p:cNvPr id="62" name="Google Shape;62;p14"/>
          <p:cNvSpPr/>
          <p:nvPr/>
        </p:nvSpPr>
        <p:spPr>
          <a:xfrm>
            <a:off x="284775" y="-50"/>
            <a:ext cx="4587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 name="Google Shape;63;p14"/>
          <p:cNvPicPr preferRelativeResize="0"/>
          <p:nvPr/>
        </p:nvPicPr>
        <p:blipFill>
          <a:blip r:embed="rId4">
            <a:alphaModFix/>
          </a:blip>
          <a:stretch>
            <a:fillRect/>
          </a:stretch>
        </p:blipFill>
        <p:spPr>
          <a:xfrm>
            <a:off x="547550" y="458950"/>
            <a:ext cx="671650" cy="628701"/>
          </a:xfrm>
          <a:prstGeom prst="rect">
            <a:avLst/>
          </a:prstGeom>
          <a:noFill/>
          <a:ln>
            <a:noFill/>
          </a:ln>
        </p:spPr>
      </p:pic>
      <p:sp>
        <p:nvSpPr>
          <p:cNvPr id="64" name="Google Shape;64;p14"/>
          <p:cNvSpPr txBox="1"/>
          <p:nvPr/>
        </p:nvSpPr>
        <p:spPr>
          <a:xfrm>
            <a:off x="547550" y="1754225"/>
            <a:ext cx="3800400" cy="753300"/>
          </a:xfrm>
          <a:prstGeom prst="rect">
            <a:avLst/>
          </a:prstGeom>
          <a:solidFill>
            <a:srgbClr val="4D56A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Adaptive Topic Recommendation System</a:t>
            </a:r>
            <a:endParaRPr b="1" sz="1800">
              <a:solidFill>
                <a:schemeClr val="lt1"/>
              </a:solidFill>
              <a:latin typeface="Roboto"/>
              <a:ea typeface="Roboto"/>
              <a:cs typeface="Roboto"/>
              <a:sym typeface="Roboto"/>
            </a:endParaRPr>
          </a:p>
        </p:txBody>
      </p:sp>
      <p:sp>
        <p:nvSpPr>
          <p:cNvPr id="65" name="Google Shape;65;p14"/>
          <p:cNvSpPr txBox="1"/>
          <p:nvPr/>
        </p:nvSpPr>
        <p:spPr>
          <a:xfrm>
            <a:off x="831650" y="2859025"/>
            <a:ext cx="3232200" cy="487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D45F81"/>
                </a:solidFill>
                <a:latin typeface="Roboto"/>
                <a:ea typeface="Roboto"/>
                <a:cs typeface="Roboto"/>
                <a:sym typeface="Roboto"/>
              </a:rPr>
              <a:t>Yamin</a:t>
            </a:r>
            <a:endParaRPr b="1" sz="1800">
              <a:solidFill>
                <a:srgbClr val="D45F81"/>
              </a:solidFill>
              <a:latin typeface="Roboto"/>
              <a:ea typeface="Roboto"/>
              <a:cs typeface="Roboto"/>
              <a:sym typeface="Roboto"/>
            </a:endParaRPr>
          </a:p>
        </p:txBody>
      </p:sp>
      <p:sp>
        <p:nvSpPr>
          <p:cNvPr id="66" name="Google Shape;66;p14"/>
          <p:cNvSpPr txBox="1"/>
          <p:nvPr/>
        </p:nvSpPr>
        <p:spPr>
          <a:xfrm>
            <a:off x="820425" y="2507625"/>
            <a:ext cx="3232200" cy="2928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rgbClr val="D45F81"/>
                </a:solidFill>
                <a:latin typeface="Roboto"/>
                <a:ea typeface="Roboto"/>
                <a:cs typeface="Roboto"/>
                <a:sym typeface="Roboto"/>
              </a:rPr>
              <a:t>by</a:t>
            </a:r>
            <a:endParaRPr sz="1300">
              <a:solidFill>
                <a:srgbClr val="D45F81"/>
              </a:solidFill>
              <a:latin typeface="Roboto"/>
              <a:ea typeface="Roboto"/>
              <a:cs typeface="Roboto"/>
              <a:sym typeface="Roboto"/>
            </a:endParaRPr>
          </a:p>
        </p:txBody>
      </p:sp>
      <p:sp>
        <p:nvSpPr>
          <p:cNvPr id="67" name="Google Shape;67;p14"/>
          <p:cNvSpPr txBox="1"/>
          <p:nvPr/>
        </p:nvSpPr>
        <p:spPr>
          <a:xfrm>
            <a:off x="547550" y="3328625"/>
            <a:ext cx="3800400" cy="487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7DBC4C"/>
                </a:solidFill>
                <a:latin typeface="Roboto"/>
                <a:ea typeface="Roboto"/>
                <a:cs typeface="Roboto"/>
                <a:sym typeface="Roboto"/>
              </a:rPr>
              <a:t>Empowered by ABW (Cohort-II) </a:t>
            </a:r>
            <a:endParaRPr b="1" sz="1100">
              <a:solidFill>
                <a:srgbClr val="7DBC4C"/>
              </a:solidFill>
              <a:latin typeface="Roboto"/>
              <a:ea typeface="Roboto"/>
              <a:cs typeface="Roboto"/>
              <a:sym typeface="Roboto"/>
            </a:endParaRPr>
          </a:p>
        </p:txBody>
      </p:sp>
      <p:sp>
        <p:nvSpPr>
          <p:cNvPr id="68" name="Google Shape;68;p14"/>
          <p:cNvSpPr txBox="1"/>
          <p:nvPr/>
        </p:nvSpPr>
        <p:spPr>
          <a:xfrm>
            <a:off x="820425" y="1249638"/>
            <a:ext cx="3232200" cy="3738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45F81"/>
                </a:solidFill>
                <a:latin typeface="Roboto"/>
                <a:ea typeface="Roboto"/>
                <a:cs typeface="Roboto"/>
                <a:sym typeface="Roboto"/>
              </a:rPr>
              <a:t>WELCOME TO</a:t>
            </a:r>
            <a:endParaRPr b="1" sz="1300">
              <a:solidFill>
                <a:srgbClr val="D45F8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74" name="Google Shape;74;p15"/>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Adaptive </a:t>
            </a:r>
            <a:r>
              <a:rPr lang="en"/>
              <a:t>Topic Recommendation System through chatbot </a:t>
            </a:r>
            <a:endParaRPr/>
          </a:p>
        </p:txBody>
      </p:sp>
      <p:pic>
        <p:nvPicPr>
          <p:cNvPr id="75" name="Google Shape;75;p15"/>
          <p:cNvPicPr preferRelativeResize="0"/>
          <p:nvPr/>
        </p:nvPicPr>
        <p:blipFill rotWithShape="1">
          <a:blip r:embed="rId3">
            <a:alphaModFix/>
          </a:blip>
          <a:srcRect b="25925" l="0" r="0" t="0"/>
          <a:stretch/>
        </p:blipFill>
        <p:spPr>
          <a:xfrm>
            <a:off x="311875" y="303450"/>
            <a:ext cx="4288198" cy="4189257"/>
          </a:xfrm>
          <a:prstGeom prst="rect">
            <a:avLst/>
          </a:prstGeom>
          <a:noFill/>
          <a:ln>
            <a:noFill/>
          </a:ln>
        </p:spPr>
      </p:pic>
      <p:sp>
        <p:nvSpPr>
          <p:cNvPr id="76" name="Google Shape;76;p15"/>
          <p:cNvSpPr/>
          <p:nvPr/>
        </p:nvSpPr>
        <p:spPr>
          <a:xfrm>
            <a:off x="2225150" y="-1"/>
            <a:ext cx="5959500" cy="449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5"/>
          <p:cNvSpPr txBox="1"/>
          <p:nvPr/>
        </p:nvSpPr>
        <p:spPr>
          <a:xfrm>
            <a:off x="2463250" y="800700"/>
            <a:ext cx="1810500" cy="487200"/>
          </a:xfrm>
          <a:prstGeom prst="rect">
            <a:avLst/>
          </a:prstGeom>
          <a:solidFill>
            <a:srgbClr val="4C55A2"/>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Black"/>
                <a:ea typeface="Roboto Black"/>
                <a:cs typeface="Roboto Black"/>
                <a:sym typeface="Roboto Black"/>
              </a:rPr>
              <a:t>Product Owner</a:t>
            </a:r>
            <a:endParaRPr sz="1800">
              <a:solidFill>
                <a:schemeClr val="lt1"/>
              </a:solidFill>
              <a:latin typeface="Roboto Black"/>
              <a:ea typeface="Roboto Black"/>
              <a:cs typeface="Roboto Black"/>
              <a:sym typeface="Roboto Black"/>
            </a:endParaRPr>
          </a:p>
        </p:txBody>
      </p:sp>
      <p:sp>
        <p:nvSpPr>
          <p:cNvPr id="78" name="Google Shape;78;p15"/>
          <p:cNvSpPr txBox="1"/>
          <p:nvPr/>
        </p:nvSpPr>
        <p:spPr>
          <a:xfrm>
            <a:off x="2463250" y="1440300"/>
            <a:ext cx="5563800" cy="487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4C55A2"/>
                </a:solidFill>
                <a:latin typeface="Roboto"/>
                <a:ea typeface="Roboto"/>
                <a:cs typeface="Roboto"/>
                <a:sym typeface="Roboto"/>
              </a:rPr>
              <a:t>Who </a:t>
            </a:r>
            <a:r>
              <a:rPr b="1" lang="en" sz="1800">
                <a:solidFill>
                  <a:srgbClr val="7DBC4C"/>
                </a:solidFill>
                <a:latin typeface="Roboto"/>
                <a:ea typeface="Roboto"/>
                <a:cs typeface="Roboto"/>
                <a:sym typeface="Roboto"/>
              </a:rPr>
              <a:t>solves educators’ problems </a:t>
            </a:r>
            <a:endParaRPr b="1" sz="1800">
              <a:solidFill>
                <a:srgbClr val="7DBC4C"/>
              </a:solidFill>
              <a:latin typeface="Roboto"/>
              <a:ea typeface="Roboto"/>
              <a:cs typeface="Roboto"/>
              <a:sym typeface="Roboto"/>
            </a:endParaRPr>
          </a:p>
        </p:txBody>
      </p:sp>
      <p:sp>
        <p:nvSpPr>
          <p:cNvPr id="79" name="Google Shape;79;p15"/>
          <p:cNvSpPr txBox="1"/>
          <p:nvPr/>
        </p:nvSpPr>
        <p:spPr>
          <a:xfrm>
            <a:off x="2463250" y="2003700"/>
            <a:ext cx="5563800" cy="487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4C55A2"/>
                </a:solidFill>
                <a:latin typeface="Roboto"/>
                <a:ea typeface="Roboto"/>
                <a:cs typeface="Roboto"/>
                <a:sym typeface="Roboto"/>
              </a:rPr>
              <a:t>To give </a:t>
            </a:r>
            <a:r>
              <a:rPr b="1" lang="en" sz="1800">
                <a:solidFill>
                  <a:srgbClr val="D45F81"/>
                </a:solidFill>
                <a:latin typeface="Roboto"/>
                <a:ea typeface="Roboto"/>
                <a:cs typeface="Roboto"/>
                <a:sym typeface="Roboto"/>
              </a:rPr>
              <a:t>the effective learning experience</a:t>
            </a:r>
            <a:r>
              <a:rPr b="1" lang="en" sz="1800">
                <a:solidFill>
                  <a:srgbClr val="4C55A2"/>
                </a:solidFill>
                <a:latin typeface="Roboto"/>
                <a:ea typeface="Roboto"/>
                <a:cs typeface="Roboto"/>
                <a:sym typeface="Roboto"/>
              </a:rPr>
              <a:t> to youths</a:t>
            </a:r>
            <a:endParaRPr b="1" sz="1800">
              <a:solidFill>
                <a:srgbClr val="4C55A2"/>
              </a:solidFill>
              <a:latin typeface="Roboto"/>
              <a:ea typeface="Roboto"/>
              <a:cs typeface="Roboto"/>
              <a:sym typeface="Roboto"/>
            </a:endParaRPr>
          </a:p>
        </p:txBody>
      </p:sp>
      <p:sp>
        <p:nvSpPr>
          <p:cNvPr id="80" name="Google Shape;80;p15"/>
          <p:cNvSpPr txBox="1"/>
          <p:nvPr/>
        </p:nvSpPr>
        <p:spPr>
          <a:xfrm>
            <a:off x="2463250" y="2641675"/>
            <a:ext cx="672300" cy="487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4C55A2"/>
                </a:solidFill>
                <a:latin typeface="Roboto"/>
                <a:ea typeface="Roboto"/>
                <a:cs typeface="Roboto"/>
                <a:sym typeface="Roboto"/>
              </a:rPr>
              <a:t>With </a:t>
            </a:r>
            <a:endParaRPr b="1" sz="1800">
              <a:solidFill>
                <a:srgbClr val="4C55A2"/>
              </a:solidFill>
              <a:latin typeface="Roboto"/>
              <a:ea typeface="Roboto"/>
              <a:cs typeface="Roboto"/>
              <a:sym typeface="Roboto"/>
            </a:endParaRPr>
          </a:p>
        </p:txBody>
      </p:sp>
      <p:sp>
        <p:nvSpPr>
          <p:cNvPr id="81" name="Google Shape;81;p15"/>
          <p:cNvSpPr txBox="1"/>
          <p:nvPr/>
        </p:nvSpPr>
        <p:spPr>
          <a:xfrm>
            <a:off x="3042825" y="2641675"/>
            <a:ext cx="5200800" cy="487200"/>
          </a:xfrm>
          <a:prstGeom prst="rect">
            <a:avLst/>
          </a:prstGeom>
          <a:solidFill>
            <a:srgbClr val="8FCF5C"/>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well-used of data and technology’s enhancement</a:t>
            </a:r>
            <a:r>
              <a:rPr b="1" lang="en" sz="1800">
                <a:solidFill>
                  <a:schemeClr val="lt1"/>
                </a:solidFill>
                <a:latin typeface="Roboto"/>
                <a:ea typeface="Roboto"/>
                <a:cs typeface="Roboto"/>
                <a:sym typeface="Roboto"/>
              </a:rPr>
              <a:t> </a:t>
            </a:r>
            <a:endParaRPr b="1" sz="1800">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445025"/>
            <a:ext cx="3999900" cy="572700"/>
          </a:xfrm>
          <a:prstGeom prst="rect">
            <a:avLst/>
          </a:prstGeom>
          <a:solidFill>
            <a:srgbClr val="D25E83"/>
          </a:solid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Problem</a:t>
            </a:r>
            <a:endParaRPr>
              <a:solidFill>
                <a:schemeClr val="lt1"/>
              </a:solidFill>
            </a:endParaRPr>
          </a:p>
        </p:txBody>
      </p:sp>
      <p:sp>
        <p:nvSpPr>
          <p:cNvPr id="87" name="Google Shape;87;p16"/>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88" name="Google Shape;88;p16"/>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Adaptive Topic Recommendation System through chatbot </a:t>
            </a:r>
            <a:endParaRPr/>
          </a:p>
          <a:p>
            <a:pPr indent="0" lvl="0" marL="0" rtl="0" algn="ctr">
              <a:spcBef>
                <a:spcPts val="0"/>
              </a:spcBef>
              <a:spcAft>
                <a:spcPts val="0"/>
              </a:spcAft>
              <a:buNone/>
            </a:pPr>
            <a:r>
              <a:t/>
            </a:r>
            <a:endParaRPr/>
          </a:p>
        </p:txBody>
      </p:sp>
      <p:sp>
        <p:nvSpPr>
          <p:cNvPr id="89" name="Google Shape;89;p16"/>
          <p:cNvSpPr txBox="1"/>
          <p:nvPr>
            <p:ph type="title"/>
          </p:nvPr>
        </p:nvSpPr>
        <p:spPr>
          <a:xfrm>
            <a:off x="4832400" y="464750"/>
            <a:ext cx="3999900" cy="572700"/>
          </a:xfrm>
          <a:prstGeom prst="rect">
            <a:avLst/>
          </a:prstGeom>
          <a:solidFill>
            <a:srgbClr val="81B94F"/>
          </a:solidFill>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lt1"/>
                </a:solidFill>
              </a:rPr>
              <a:t>Solution</a:t>
            </a:r>
            <a:endParaRPr>
              <a:solidFill>
                <a:schemeClr val="lt1"/>
              </a:solidFill>
            </a:endParaRPr>
          </a:p>
        </p:txBody>
      </p:sp>
      <p:sp>
        <p:nvSpPr>
          <p:cNvPr id="90" name="Google Shape;90;p16"/>
          <p:cNvSpPr txBox="1"/>
          <p:nvPr/>
        </p:nvSpPr>
        <p:spPr>
          <a:xfrm>
            <a:off x="311700" y="1135000"/>
            <a:ext cx="3999900" cy="3549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lang="en" sz="1900">
                <a:solidFill>
                  <a:srgbClr val="D25E83"/>
                </a:solidFill>
                <a:latin typeface="Roboto"/>
                <a:ea typeface="Roboto"/>
                <a:cs typeface="Roboto"/>
                <a:sym typeface="Roboto"/>
              </a:rPr>
              <a:t>Statement 1:</a:t>
            </a:r>
            <a:endParaRPr b="1" sz="1900">
              <a:solidFill>
                <a:srgbClr val="D25E83"/>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2000"/>
              <a:buFont typeface="Arial"/>
              <a:buNone/>
            </a:pPr>
            <a:r>
              <a:t/>
            </a:r>
            <a:endParaRPr b="1" sz="1200">
              <a:solidFill>
                <a:srgbClr val="D25E83"/>
              </a:solidFill>
              <a:latin typeface="Roboto"/>
              <a:ea typeface="Roboto"/>
              <a:cs typeface="Roboto"/>
              <a:sym typeface="Roboto"/>
            </a:endParaRPr>
          </a:p>
          <a:p>
            <a:pPr indent="0" lvl="0" marL="0" marR="0" rtl="0" algn="l">
              <a:lnSpc>
                <a:spcPct val="115000"/>
              </a:lnSpc>
              <a:spcBef>
                <a:spcPts val="0"/>
              </a:spcBef>
              <a:spcAft>
                <a:spcPts val="0"/>
              </a:spcAft>
              <a:buNone/>
            </a:pPr>
            <a:r>
              <a:rPr lang="en" sz="1500">
                <a:solidFill>
                  <a:srgbClr val="1F2328"/>
                </a:solidFill>
                <a:highlight>
                  <a:srgbClr val="FFFFFF"/>
                </a:highlight>
              </a:rPr>
              <a:t>Scattered </a:t>
            </a:r>
            <a:r>
              <a:rPr b="1" lang="en" sz="1500">
                <a:solidFill>
                  <a:srgbClr val="D45F81"/>
                </a:solidFill>
                <a:highlight>
                  <a:srgbClr val="FFFFFF"/>
                </a:highlight>
              </a:rPr>
              <a:t>learning experiences</a:t>
            </a:r>
            <a:r>
              <a:rPr lang="en" sz="1500">
                <a:solidFill>
                  <a:srgbClr val="1F2328"/>
                </a:solidFill>
                <a:highlight>
                  <a:srgbClr val="FFFFFF"/>
                </a:highlight>
              </a:rPr>
              <a:t> without direction</a:t>
            </a:r>
            <a:endParaRPr sz="1500">
              <a:solidFill>
                <a:srgbClr val="1F2328"/>
              </a:solidFill>
              <a:highlight>
                <a:srgbClr val="FFFFFF"/>
              </a:highlight>
            </a:endParaRPr>
          </a:p>
          <a:p>
            <a:pPr indent="0" lvl="0" marL="0" marR="0" rtl="0" algn="l">
              <a:lnSpc>
                <a:spcPct val="115000"/>
              </a:lnSpc>
              <a:spcBef>
                <a:spcPts val="0"/>
              </a:spcBef>
              <a:spcAft>
                <a:spcPts val="0"/>
              </a:spcAft>
              <a:buNone/>
            </a:pPr>
            <a:r>
              <a:t/>
            </a:r>
            <a:endParaRPr sz="1200">
              <a:solidFill>
                <a:srgbClr val="1F2328"/>
              </a:solidFill>
              <a:highlight>
                <a:srgbClr val="FFFFFF"/>
              </a:highlight>
            </a:endParaRPr>
          </a:p>
          <a:p>
            <a:pPr indent="0" lvl="0" marL="0" marR="0" rtl="0" algn="l">
              <a:lnSpc>
                <a:spcPct val="115000"/>
              </a:lnSpc>
              <a:spcBef>
                <a:spcPts val="0"/>
              </a:spcBef>
              <a:spcAft>
                <a:spcPts val="0"/>
              </a:spcAft>
              <a:buNone/>
            </a:pPr>
            <a:r>
              <a:t/>
            </a:r>
            <a:endParaRPr sz="1200">
              <a:solidFill>
                <a:srgbClr val="1F2328"/>
              </a:solidFill>
              <a:highlight>
                <a:srgbClr val="FFFFFF"/>
              </a:highlight>
            </a:endParaRPr>
          </a:p>
          <a:p>
            <a:pPr indent="0" lvl="0" marL="0" marR="0" rtl="0" algn="l">
              <a:lnSpc>
                <a:spcPct val="115000"/>
              </a:lnSpc>
              <a:spcBef>
                <a:spcPts val="0"/>
              </a:spcBef>
              <a:spcAft>
                <a:spcPts val="0"/>
              </a:spcAft>
              <a:buNone/>
            </a:pPr>
            <a:r>
              <a:t/>
            </a:r>
            <a:endParaRPr sz="1200">
              <a:solidFill>
                <a:srgbClr val="1F2328"/>
              </a:solidFill>
              <a:highlight>
                <a:srgbClr val="FFFFFF"/>
              </a:highlight>
            </a:endParaRPr>
          </a:p>
          <a:p>
            <a:pPr indent="0" lvl="0" marL="0" rtl="0" algn="l">
              <a:lnSpc>
                <a:spcPct val="115000"/>
              </a:lnSpc>
              <a:spcBef>
                <a:spcPts val="0"/>
              </a:spcBef>
              <a:spcAft>
                <a:spcPts val="0"/>
              </a:spcAft>
              <a:buNone/>
            </a:pPr>
            <a:r>
              <a:rPr b="1" lang="en" sz="1900">
                <a:solidFill>
                  <a:srgbClr val="D25E83"/>
                </a:solidFill>
                <a:latin typeface="Roboto"/>
                <a:ea typeface="Roboto"/>
                <a:cs typeface="Roboto"/>
                <a:sym typeface="Roboto"/>
              </a:rPr>
              <a:t>Statement 2:</a:t>
            </a:r>
            <a:endParaRPr b="1" sz="1900">
              <a:solidFill>
                <a:srgbClr val="D25E83"/>
              </a:solidFill>
              <a:latin typeface="Roboto"/>
              <a:ea typeface="Roboto"/>
              <a:cs typeface="Roboto"/>
              <a:sym typeface="Roboto"/>
            </a:endParaRPr>
          </a:p>
          <a:p>
            <a:pPr indent="0" lvl="0" marL="0" rtl="0" algn="l">
              <a:lnSpc>
                <a:spcPct val="115000"/>
              </a:lnSpc>
              <a:spcBef>
                <a:spcPts val="0"/>
              </a:spcBef>
              <a:spcAft>
                <a:spcPts val="0"/>
              </a:spcAft>
              <a:buNone/>
            </a:pPr>
            <a:r>
              <a:t/>
            </a:r>
            <a:endParaRPr b="1" sz="1200">
              <a:solidFill>
                <a:srgbClr val="D25E83"/>
              </a:solidFill>
              <a:latin typeface="Roboto"/>
              <a:ea typeface="Roboto"/>
              <a:cs typeface="Roboto"/>
              <a:sym typeface="Roboto"/>
            </a:endParaRPr>
          </a:p>
          <a:p>
            <a:pPr indent="0" lvl="0" marL="0" marR="0" rtl="0" algn="l">
              <a:lnSpc>
                <a:spcPct val="115000"/>
              </a:lnSpc>
              <a:spcBef>
                <a:spcPts val="0"/>
              </a:spcBef>
              <a:spcAft>
                <a:spcPts val="0"/>
              </a:spcAft>
              <a:buNone/>
            </a:pPr>
            <a:r>
              <a:rPr lang="en" sz="1500">
                <a:solidFill>
                  <a:schemeClr val="dk1"/>
                </a:solidFill>
                <a:highlight>
                  <a:srgbClr val="FFFFFF"/>
                </a:highlight>
              </a:rPr>
              <a:t>Having</a:t>
            </a:r>
            <a:r>
              <a:rPr b="1" lang="en" sz="1500">
                <a:solidFill>
                  <a:srgbClr val="D45F81"/>
                </a:solidFill>
                <a:highlight>
                  <a:srgbClr val="FFFFFF"/>
                </a:highlight>
              </a:rPr>
              <a:t> limited internet access</a:t>
            </a:r>
            <a:r>
              <a:rPr lang="en" sz="1500">
                <a:solidFill>
                  <a:srgbClr val="1F2328"/>
                </a:solidFill>
                <a:highlight>
                  <a:srgbClr val="FFFFFF"/>
                </a:highlight>
              </a:rPr>
              <a:t> in Myanmar </a:t>
            </a:r>
            <a:endParaRPr sz="1500">
              <a:latin typeface="Roboto"/>
              <a:ea typeface="Roboto"/>
              <a:cs typeface="Roboto"/>
              <a:sym typeface="Roboto"/>
            </a:endParaRPr>
          </a:p>
        </p:txBody>
      </p:sp>
      <p:sp>
        <p:nvSpPr>
          <p:cNvPr id="91" name="Google Shape;91;p16"/>
          <p:cNvSpPr txBox="1"/>
          <p:nvPr/>
        </p:nvSpPr>
        <p:spPr>
          <a:xfrm>
            <a:off x="4832400" y="1135000"/>
            <a:ext cx="3999900" cy="16140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Clr>
                <a:srgbClr val="000000"/>
              </a:buClr>
              <a:buSzPts val="2000"/>
              <a:buFont typeface="Arial"/>
              <a:buNone/>
            </a:pPr>
            <a:r>
              <a:rPr b="1" lang="en" sz="1900">
                <a:solidFill>
                  <a:srgbClr val="7DBC4C"/>
                </a:solidFill>
                <a:latin typeface="Roboto"/>
                <a:ea typeface="Roboto"/>
                <a:cs typeface="Roboto"/>
                <a:sym typeface="Roboto"/>
              </a:rPr>
              <a:t>One of Many:</a:t>
            </a:r>
            <a:endParaRPr b="1" sz="1900">
              <a:solidFill>
                <a:srgbClr val="7DBC4C"/>
              </a:solidFill>
              <a:latin typeface="Roboto"/>
              <a:ea typeface="Roboto"/>
              <a:cs typeface="Roboto"/>
              <a:sym typeface="Roboto"/>
            </a:endParaRPr>
          </a:p>
          <a:p>
            <a:pPr indent="0" lvl="0" marL="0" marR="0" rtl="0" algn="r">
              <a:lnSpc>
                <a:spcPct val="115000"/>
              </a:lnSpc>
              <a:spcBef>
                <a:spcPts val="0"/>
              </a:spcBef>
              <a:spcAft>
                <a:spcPts val="0"/>
              </a:spcAft>
              <a:buClr>
                <a:srgbClr val="000000"/>
              </a:buClr>
              <a:buSzPts val="2000"/>
              <a:buFont typeface="Arial"/>
              <a:buNone/>
            </a:pPr>
            <a:r>
              <a:rPr b="1" lang="en" sz="1200">
                <a:solidFill>
                  <a:srgbClr val="7DBC4C"/>
                </a:solidFill>
                <a:latin typeface="Roboto"/>
                <a:ea typeface="Roboto"/>
                <a:cs typeface="Roboto"/>
                <a:sym typeface="Roboto"/>
              </a:rPr>
              <a:t> </a:t>
            </a:r>
            <a:endParaRPr b="1" sz="1200">
              <a:solidFill>
                <a:srgbClr val="7DBC4C"/>
              </a:solidFill>
              <a:latin typeface="Roboto"/>
              <a:ea typeface="Roboto"/>
              <a:cs typeface="Roboto"/>
              <a:sym typeface="Roboto"/>
            </a:endParaRPr>
          </a:p>
          <a:p>
            <a:pPr indent="0" lvl="0" marL="0" marR="0" rtl="0" algn="r">
              <a:lnSpc>
                <a:spcPct val="115000"/>
              </a:lnSpc>
              <a:spcBef>
                <a:spcPts val="0"/>
              </a:spcBef>
              <a:spcAft>
                <a:spcPts val="0"/>
              </a:spcAft>
              <a:buNone/>
            </a:pPr>
            <a:r>
              <a:rPr lang="en" sz="1500">
                <a:solidFill>
                  <a:srgbClr val="1F2328"/>
                </a:solidFill>
                <a:highlight>
                  <a:srgbClr val="FFFFFF"/>
                </a:highlight>
              </a:rPr>
              <a:t>To </a:t>
            </a:r>
            <a:r>
              <a:rPr b="1" lang="en" sz="1500">
                <a:solidFill>
                  <a:schemeClr val="lt1"/>
                </a:solidFill>
                <a:highlight>
                  <a:srgbClr val="81B94F"/>
                </a:highlight>
              </a:rPr>
              <a:t>deliver personalized content</a:t>
            </a:r>
            <a:r>
              <a:rPr lang="en" sz="1500">
                <a:solidFill>
                  <a:srgbClr val="1F2328"/>
                </a:solidFill>
                <a:highlight>
                  <a:srgbClr val="FFFFFF"/>
                </a:highlight>
              </a:rPr>
              <a:t> based on learner’s persona, interest and behavior </a:t>
            </a:r>
            <a:endParaRPr sz="1500">
              <a:solidFill>
                <a:srgbClr val="1F2328"/>
              </a:solidFill>
              <a:highlight>
                <a:srgbClr val="FFFFFF"/>
              </a:highlight>
            </a:endParaRPr>
          </a:p>
          <a:p>
            <a:pPr indent="0" lvl="0" marL="0" marR="0" rtl="0" algn="r">
              <a:lnSpc>
                <a:spcPct val="115000"/>
              </a:lnSpc>
              <a:spcBef>
                <a:spcPts val="0"/>
              </a:spcBef>
              <a:spcAft>
                <a:spcPts val="0"/>
              </a:spcAft>
              <a:buNone/>
            </a:pPr>
            <a:r>
              <a:rPr lang="en" sz="1500">
                <a:solidFill>
                  <a:srgbClr val="1F2328"/>
                </a:solidFill>
                <a:highlight>
                  <a:srgbClr val="FFFFFF"/>
                </a:highlight>
              </a:rPr>
              <a:t>but also </a:t>
            </a:r>
            <a:r>
              <a:rPr b="1" lang="en" sz="1500">
                <a:solidFill>
                  <a:schemeClr val="lt1"/>
                </a:solidFill>
                <a:highlight>
                  <a:srgbClr val="7DBC4C"/>
                </a:highlight>
              </a:rPr>
              <a:t>evolves with the learner</a:t>
            </a:r>
            <a:endParaRPr sz="1500">
              <a:solidFill>
                <a:srgbClr val="1F2328"/>
              </a:solidFill>
              <a:highlight>
                <a:srgbClr val="FFFFFF"/>
              </a:highlight>
            </a:endParaRPr>
          </a:p>
          <a:p>
            <a:pPr indent="0" lvl="0" marL="0" marR="0" rtl="0" algn="l">
              <a:lnSpc>
                <a:spcPct val="115000"/>
              </a:lnSpc>
              <a:spcBef>
                <a:spcPts val="0"/>
              </a:spcBef>
              <a:spcAft>
                <a:spcPts val="0"/>
              </a:spcAft>
              <a:buNone/>
            </a:pPr>
            <a:r>
              <a:t/>
            </a:r>
            <a:endParaRPr sz="1200">
              <a:solidFill>
                <a:srgbClr val="1F2328"/>
              </a:solidFill>
              <a:highlight>
                <a:srgbClr val="FFFFFF"/>
              </a:highlight>
            </a:endParaRPr>
          </a:p>
          <a:p>
            <a:pPr indent="0" lvl="0" marL="0" marR="0" rtl="0" algn="l">
              <a:lnSpc>
                <a:spcPct val="115000"/>
              </a:lnSpc>
              <a:spcBef>
                <a:spcPts val="0"/>
              </a:spcBef>
              <a:spcAft>
                <a:spcPts val="0"/>
              </a:spcAft>
              <a:buNone/>
            </a:pPr>
            <a:r>
              <a:t/>
            </a:r>
            <a:endParaRPr sz="1200">
              <a:latin typeface="Roboto"/>
              <a:ea typeface="Roboto"/>
              <a:cs typeface="Roboto"/>
              <a:sym typeface="Roboto"/>
            </a:endParaRPr>
          </a:p>
        </p:txBody>
      </p:sp>
      <p:pic>
        <p:nvPicPr>
          <p:cNvPr id="92" name="Google Shape;92;p16"/>
          <p:cNvPicPr preferRelativeResize="0"/>
          <p:nvPr/>
        </p:nvPicPr>
        <p:blipFill>
          <a:blip r:embed="rId3">
            <a:alphaModFix/>
          </a:blip>
          <a:stretch>
            <a:fillRect/>
          </a:stretch>
        </p:blipFill>
        <p:spPr>
          <a:xfrm>
            <a:off x="4937625" y="3114475"/>
            <a:ext cx="1311950" cy="1396575"/>
          </a:xfrm>
          <a:prstGeom prst="rect">
            <a:avLst/>
          </a:prstGeom>
          <a:noFill/>
          <a:ln>
            <a:noFill/>
          </a:ln>
        </p:spPr>
      </p:pic>
      <p:sp>
        <p:nvSpPr>
          <p:cNvPr id="93" name="Google Shape;93;p16"/>
          <p:cNvSpPr/>
          <p:nvPr/>
        </p:nvSpPr>
        <p:spPr>
          <a:xfrm rot="509481">
            <a:off x="5831602" y="2851417"/>
            <a:ext cx="2342451" cy="1489528"/>
          </a:xfrm>
          <a:custGeom>
            <a:rect b="b" l="l" r="r" t="t"/>
            <a:pathLst>
              <a:path extrusionOk="0" h="65703" w="102637">
                <a:moveTo>
                  <a:pt x="0" y="65703"/>
                </a:moveTo>
                <a:cubicBezTo>
                  <a:pt x="4795" y="64537"/>
                  <a:pt x="25660" y="61816"/>
                  <a:pt x="28770" y="58706"/>
                </a:cubicBezTo>
                <a:cubicBezTo>
                  <a:pt x="31880" y="55596"/>
                  <a:pt x="16459" y="50348"/>
                  <a:pt x="18662" y="47043"/>
                </a:cubicBezTo>
                <a:cubicBezTo>
                  <a:pt x="20865" y="43739"/>
                  <a:pt x="38748" y="42378"/>
                  <a:pt x="41988" y="38879"/>
                </a:cubicBezTo>
                <a:cubicBezTo>
                  <a:pt x="45228" y="35380"/>
                  <a:pt x="34926" y="28317"/>
                  <a:pt x="38101" y="26049"/>
                </a:cubicBezTo>
                <a:cubicBezTo>
                  <a:pt x="41276" y="23781"/>
                  <a:pt x="55854" y="26633"/>
                  <a:pt x="61038" y="25272"/>
                </a:cubicBezTo>
                <a:cubicBezTo>
                  <a:pt x="66222" y="23911"/>
                  <a:pt x="65769" y="19311"/>
                  <a:pt x="69203" y="17885"/>
                </a:cubicBezTo>
                <a:cubicBezTo>
                  <a:pt x="72637" y="16460"/>
                  <a:pt x="77886" y="17562"/>
                  <a:pt x="81644" y="16719"/>
                </a:cubicBezTo>
                <a:cubicBezTo>
                  <a:pt x="85402" y="15877"/>
                  <a:pt x="89937" y="14839"/>
                  <a:pt x="91751" y="12830"/>
                </a:cubicBezTo>
                <a:cubicBezTo>
                  <a:pt x="93565" y="10821"/>
                  <a:pt x="90715" y="6804"/>
                  <a:pt x="92529" y="4666"/>
                </a:cubicBezTo>
                <a:cubicBezTo>
                  <a:pt x="94343" y="2528"/>
                  <a:pt x="100952" y="778"/>
                  <a:pt x="102637" y="0"/>
                </a:cubicBezTo>
              </a:path>
            </a:pathLst>
          </a:custGeom>
          <a:noFill/>
          <a:ln cap="flat" cmpd="sng" w="19050">
            <a:solidFill>
              <a:srgbClr val="4C55A2"/>
            </a:solidFill>
            <a:prstDash val="dash"/>
            <a:round/>
            <a:headEnd len="med" w="med" type="none"/>
            <a:tailEnd len="med" w="med" type="none"/>
          </a:ln>
        </p:spPr>
      </p:sp>
      <p:pic>
        <p:nvPicPr>
          <p:cNvPr id="94" name="Google Shape;94;p16"/>
          <p:cNvPicPr preferRelativeResize="0"/>
          <p:nvPr/>
        </p:nvPicPr>
        <p:blipFill rotWithShape="1">
          <a:blip r:embed="rId4">
            <a:alphaModFix/>
          </a:blip>
          <a:srcRect b="0" l="0" r="0" t="0"/>
          <a:stretch/>
        </p:blipFill>
        <p:spPr>
          <a:xfrm>
            <a:off x="8025325" y="2625275"/>
            <a:ext cx="470799" cy="4707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311700" y="445025"/>
            <a:ext cx="8489100" cy="572700"/>
          </a:xfrm>
          <a:prstGeom prst="rect">
            <a:avLst/>
          </a:prstGeom>
          <a:solidFill>
            <a:srgbClr val="4D56A1"/>
          </a:solid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Project In One Page</a:t>
            </a:r>
            <a:endParaRPr>
              <a:solidFill>
                <a:schemeClr val="lt1"/>
              </a:solidFill>
            </a:endParaRPr>
          </a:p>
        </p:txBody>
      </p:sp>
      <p:sp>
        <p:nvSpPr>
          <p:cNvPr id="100" name="Google Shape;100;p17"/>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101" name="Google Shape;101;p17"/>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Adaptive Topic Recommendation System through chatbot </a:t>
            </a:r>
            <a:endParaRPr/>
          </a:p>
          <a:p>
            <a:pPr indent="0" lvl="0" marL="0" rtl="0" algn="ctr">
              <a:spcBef>
                <a:spcPts val="0"/>
              </a:spcBef>
              <a:spcAft>
                <a:spcPts val="0"/>
              </a:spcAft>
              <a:buNone/>
            </a:pPr>
            <a:r>
              <a:t/>
            </a:r>
            <a:endParaRPr/>
          </a:p>
        </p:txBody>
      </p:sp>
      <p:sp>
        <p:nvSpPr>
          <p:cNvPr id="102" name="Google Shape;102;p17"/>
          <p:cNvSpPr txBox="1"/>
          <p:nvPr/>
        </p:nvSpPr>
        <p:spPr>
          <a:xfrm>
            <a:off x="311700" y="1135000"/>
            <a:ext cx="3323400" cy="3549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lang="en" sz="1200">
                <a:solidFill>
                  <a:srgbClr val="D25E83"/>
                </a:solidFill>
                <a:latin typeface="Roboto"/>
                <a:ea typeface="Roboto"/>
                <a:cs typeface="Roboto"/>
                <a:sym typeface="Roboto"/>
              </a:rPr>
              <a:t>Project Title</a:t>
            </a:r>
            <a:endParaRPr b="1" i="0" sz="1200" u="none" cap="none" strike="noStrike">
              <a:solidFill>
                <a:srgbClr val="D25E83"/>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rPr lang="en" sz="1200">
                <a:latin typeface="Roboto"/>
                <a:ea typeface="Roboto"/>
                <a:cs typeface="Roboto"/>
                <a:sym typeface="Roboto"/>
              </a:rPr>
              <a:t>Adaptive Topic Recommendation System Through Chatbot</a:t>
            </a:r>
            <a:r>
              <a:rPr lang="en" sz="1200">
                <a:latin typeface="Roboto"/>
                <a:ea typeface="Roboto"/>
                <a:cs typeface="Roboto"/>
                <a:sym typeface="Roboto"/>
              </a:rPr>
              <a:t> </a:t>
            </a:r>
            <a:endParaRPr sz="1200">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1" sz="700">
              <a:solidFill>
                <a:srgbClr val="4C55A2"/>
              </a:solidFill>
              <a:latin typeface="Roboto"/>
              <a:ea typeface="Roboto"/>
              <a:cs typeface="Roboto"/>
              <a:sym typeface="Roboto"/>
            </a:endParaRPr>
          </a:p>
          <a:p>
            <a:pPr indent="0" lvl="0" marL="0" rtl="0" algn="l">
              <a:lnSpc>
                <a:spcPct val="115000"/>
              </a:lnSpc>
              <a:spcBef>
                <a:spcPts val="0"/>
              </a:spcBef>
              <a:spcAft>
                <a:spcPts val="0"/>
              </a:spcAft>
              <a:buClr>
                <a:srgbClr val="000000"/>
              </a:buClr>
              <a:buSzPts val="2000"/>
              <a:buFont typeface="Arial"/>
              <a:buNone/>
            </a:pPr>
            <a:r>
              <a:rPr b="1" lang="en" sz="1200">
                <a:solidFill>
                  <a:srgbClr val="7DBC4C"/>
                </a:solidFill>
                <a:latin typeface="Roboto"/>
                <a:ea typeface="Roboto"/>
                <a:cs typeface="Roboto"/>
                <a:sym typeface="Roboto"/>
              </a:rPr>
              <a:t>Project Goal</a:t>
            </a:r>
            <a:endParaRPr b="1" sz="1200">
              <a:solidFill>
                <a:srgbClr val="7DBC4C"/>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1F2328"/>
                </a:solidFill>
                <a:highlight>
                  <a:srgbClr val="FFFFFF"/>
                </a:highlight>
              </a:rPr>
              <a:t>To give the topic recommendation to learners based on their overall interest on topics as well as similar topics.</a:t>
            </a:r>
            <a:endParaRPr sz="1200">
              <a:solidFill>
                <a:srgbClr val="1F2328"/>
              </a:solidFill>
              <a:highlight>
                <a:srgbClr val="FFFFFF"/>
              </a:highlight>
            </a:endParaRPr>
          </a:p>
          <a:p>
            <a:pPr indent="0" lvl="0" marL="0" rtl="0" algn="l">
              <a:lnSpc>
                <a:spcPct val="115000"/>
              </a:lnSpc>
              <a:spcBef>
                <a:spcPts val="1200"/>
              </a:spcBef>
              <a:spcAft>
                <a:spcPts val="0"/>
              </a:spcAft>
              <a:buClr>
                <a:schemeClr val="dk1"/>
              </a:buClr>
              <a:buSzPts val="2000"/>
              <a:buFont typeface="Arial"/>
              <a:buNone/>
            </a:pPr>
            <a:r>
              <a:rPr b="1" lang="en" sz="1200">
                <a:solidFill>
                  <a:srgbClr val="4D56A1"/>
                </a:solidFill>
                <a:latin typeface="Roboto"/>
                <a:ea typeface="Roboto"/>
                <a:cs typeface="Roboto"/>
                <a:sym typeface="Roboto"/>
              </a:rPr>
              <a:t>Model Reference</a:t>
            </a:r>
            <a:endParaRPr b="1" sz="1200">
              <a:solidFill>
                <a:srgbClr val="4D56A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Implicit Feedback Recommender System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Alternating Least Squares Model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bm25 weighting scheme</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Clr>
                <a:srgbClr val="000000"/>
              </a:buClr>
              <a:buSzPts val="1600"/>
              <a:buFont typeface="Arial"/>
              <a:buNone/>
            </a:pPr>
            <a:r>
              <a:t/>
            </a:r>
            <a:endParaRPr sz="1200">
              <a:latin typeface="Roboto"/>
              <a:ea typeface="Roboto"/>
              <a:cs typeface="Roboto"/>
              <a:sym typeface="Roboto"/>
            </a:endParaRPr>
          </a:p>
        </p:txBody>
      </p:sp>
      <p:pic>
        <p:nvPicPr>
          <p:cNvPr id="103" name="Google Shape;103;p17"/>
          <p:cNvPicPr preferRelativeResize="0"/>
          <p:nvPr/>
        </p:nvPicPr>
        <p:blipFill rotWithShape="1">
          <a:blip r:embed="rId3">
            <a:alphaModFix/>
          </a:blip>
          <a:srcRect b="10940" l="2550" r="-2550" t="-10940"/>
          <a:stretch/>
        </p:blipFill>
        <p:spPr>
          <a:xfrm>
            <a:off x="4959199" y="1674023"/>
            <a:ext cx="727926" cy="745335"/>
          </a:xfrm>
          <a:prstGeom prst="rect">
            <a:avLst/>
          </a:prstGeom>
          <a:noFill/>
          <a:ln>
            <a:noFill/>
          </a:ln>
        </p:spPr>
      </p:pic>
      <p:sp>
        <p:nvSpPr>
          <p:cNvPr id="104" name="Google Shape;104;p17"/>
          <p:cNvSpPr/>
          <p:nvPr/>
        </p:nvSpPr>
        <p:spPr>
          <a:xfrm>
            <a:off x="6730506" y="1980871"/>
            <a:ext cx="212100" cy="2019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7"/>
          <p:cNvSpPr/>
          <p:nvPr/>
        </p:nvSpPr>
        <p:spPr>
          <a:xfrm>
            <a:off x="6764710" y="2182634"/>
            <a:ext cx="177900" cy="1683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7"/>
          <p:cNvSpPr/>
          <p:nvPr/>
        </p:nvSpPr>
        <p:spPr>
          <a:xfrm>
            <a:off x="6908392" y="1840642"/>
            <a:ext cx="212100" cy="2019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7"/>
          <p:cNvSpPr/>
          <p:nvPr/>
        </p:nvSpPr>
        <p:spPr>
          <a:xfrm>
            <a:off x="6942615" y="2058873"/>
            <a:ext cx="177900" cy="1683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7"/>
          <p:cNvSpPr/>
          <p:nvPr/>
        </p:nvSpPr>
        <p:spPr>
          <a:xfrm>
            <a:off x="6753144" y="1743445"/>
            <a:ext cx="212100" cy="2019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7"/>
          <p:cNvSpPr/>
          <p:nvPr/>
        </p:nvSpPr>
        <p:spPr>
          <a:xfrm>
            <a:off x="6618874" y="1890574"/>
            <a:ext cx="177900" cy="1683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7"/>
          <p:cNvSpPr/>
          <p:nvPr/>
        </p:nvSpPr>
        <p:spPr>
          <a:xfrm>
            <a:off x="6618874" y="2128000"/>
            <a:ext cx="177900" cy="1683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1" name="Google Shape;111;p17"/>
          <p:cNvGrpSpPr/>
          <p:nvPr/>
        </p:nvGrpSpPr>
        <p:grpSpPr>
          <a:xfrm>
            <a:off x="7866244" y="1840609"/>
            <a:ext cx="551840" cy="466283"/>
            <a:chOff x="7483025" y="1689100"/>
            <a:chExt cx="779655" cy="626640"/>
          </a:xfrm>
        </p:grpSpPr>
        <p:sp>
          <p:nvSpPr>
            <p:cNvPr id="112" name="Google Shape;112;p17"/>
            <p:cNvSpPr/>
            <p:nvPr/>
          </p:nvSpPr>
          <p:spPr>
            <a:xfrm>
              <a:off x="7521343" y="1727278"/>
              <a:ext cx="315300" cy="1977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7"/>
            <p:cNvSpPr/>
            <p:nvPr/>
          </p:nvSpPr>
          <p:spPr>
            <a:xfrm>
              <a:off x="7947730" y="2119231"/>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7"/>
            <p:cNvSpPr/>
            <p:nvPr/>
          </p:nvSpPr>
          <p:spPr>
            <a:xfrm>
              <a:off x="7715377" y="1845619"/>
              <a:ext cx="315300" cy="2232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7"/>
            <p:cNvSpPr/>
            <p:nvPr/>
          </p:nvSpPr>
          <p:spPr>
            <a:xfrm>
              <a:off x="7715377" y="2030993"/>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7"/>
            <p:cNvSpPr/>
            <p:nvPr/>
          </p:nvSpPr>
          <p:spPr>
            <a:xfrm>
              <a:off x="7483025" y="1925083"/>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7"/>
            <p:cNvSpPr/>
            <p:nvPr/>
          </p:nvSpPr>
          <p:spPr>
            <a:xfrm>
              <a:off x="7947730" y="1763840"/>
              <a:ext cx="294900" cy="1977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7"/>
            <p:cNvSpPr/>
            <p:nvPr/>
          </p:nvSpPr>
          <p:spPr>
            <a:xfrm>
              <a:off x="8030480" y="1964997"/>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7"/>
            <p:cNvSpPr/>
            <p:nvPr/>
          </p:nvSpPr>
          <p:spPr>
            <a:xfrm>
              <a:off x="7521343" y="2092540"/>
              <a:ext cx="315300" cy="2232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7"/>
            <p:cNvSpPr/>
            <p:nvPr/>
          </p:nvSpPr>
          <p:spPr>
            <a:xfrm>
              <a:off x="7836445" y="1689100"/>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21" name="Google Shape;121;p17"/>
          <p:cNvPicPr preferRelativeResize="0"/>
          <p:nvPr/>
        </p:nvPicPr>
        <p:blipFill rotWithShape="1">
          <a:blip r:embed="rId4">
            <a:alphaModFix/>
          </a:blip>
          <a:srcRect b="0" l="0" r="0" t="0"/>
          <a:stretch/>
        </p:blipFill>
        <p:spPr>
          <a:xfrm>
            <a:off x="6363047" y="3355275"/>
            <a:ext cx="986314" cy="824945"/>
          </a:xfrm>
          <a:prstGeom prst="rect">
            <a:avLst/>
          </a:prstGeom>
          <a:noFill/>
          <a:ln>
            <a:noFill/>
          </a:ln>
        </p:spPr>
      </p:pic>
      <p:grpSp>
        <p:nvGrpSpPr>
          <p:cNvPr id="122" name="Google Shape;122;p17"/>
          <p:cNvGrpSpPr/>
          <p:nvPr/>
        </p:nvGrpSpPr>
        <p:grpSpPr>
          <a:xfrm>
            <a:off x="7802392" y="3500140"/>
            <a:ext cx="678788" cy="530176"/>
            <a:chOff x="7787375" y="3094700"/>
            <a:chExt cx="770125" cy="719175"/>
          </a:xfrm>
        </p:grpSpPr>
        <p:pic>
          <p:nvPicPr>
            <p:cNvPr id="123" name="Google Shape;123;p17"/>
            <p:cNvPicPr preferRelativeResize="0"/>
            <p:nvPr/>
          </p:nvPicPr>
          <p:blipFill>
            <a:blip r:embed="rId5">
              <a:alphaModFix/>
            </a:blip>
            <a:stretch>
              <a:fillRect/>
            </a:stretch>
          </p:blipFill>
          <p:spPr>
            <a:xfrm>
              <a:off x="7787375" y="3094700"/>
              <a:ext cx="335825" cy="335850"/>
            </a:xfrm>
            <a:prstGeom prst="rect">
              <a:avLst/>
            </a:prstGeom>
            <a:noFill/>
            <a:ln>
              <a:noFill/>
            </a:ln>
          </p:spPr>
        </p:pic>
        <p:pic>
          <p:nvPicPr>
            <p:cNvPr id="124" name="Google Shape;124;p17"/>
            <p:cNvPicPr preferRelativeResize="0"/>
            <p:nvPr/>
          </p:nvPicPr>
          <p:blipFill>
            <a:blip r:embed="rId5">
              <a:alphaModFix/>
            </a:blip>
            <a:stretch>
              <a:fillRect/>
            </a:stretch>
          </p:blipFill>
          <p:spPr>
            <a:xfrm>
              <a:off x="8123200" y="3094700"/>
              <a:ext cx="335825" cy="335850"/>
            </a:xfrm>
            <a:prstGeom prst="rect">
              <a:avLst/>
            </a:prstGeom>
            <a:noFill/>
            <a:ln>
              <a:noFill/>
            </a:ln>
          </p:spPr>
        </p:pic>
        <p:pic>
          <p:nvPicPr>
            <p:cNvPr id="125" name="Google Shape;125;p17"/>
            <p:cNvPicPr preferRelativeResize="0"/>
            <p:nvPr/>
          </p:nvPicPr>
          <p:blipFill>
            <a:blip r:embed="rId5">
              <a:alphaModFix/>
            </a:blip>
            <a:stretch>
              <a:fillRect/>
            </a:stretch>
          </p:blipFill>
          <p:spPr>
            <a:xfrm>
              <a:off x="7885850" y="3478025"/>
              <a:ext cx="335825" cy="335850"/>
            </a:xfrm>
            <a:prstGeom prst="rect">
              <a:avLst/>
            </a:prstGeom>
            <a:noFill/>
            <a:ln>
              <a:noFill/>
            </a:ln>
          </p:spPr>
        </p:pic>
        <p:pic>
          <p:nvPicPr>
            <p:cNvPr id="126" name="Google Shape;126;p17"/>
            <p:cNvPicPr preferRelativeResize="0"/>
            <p:nvPr/>
          </p:nvPicPr>
          <p:blipFill>
            <a:blip r:embed="rId5">
              <a:alphaModFix/>
            </a:blip>
            <a:stretch>
              <a:fillRect/>
            </a:stretch>
          </p:blipFill>
          <p:spPr>
            <a:xfrm>
              <a:off x="8221675" y="3478025"/>
              <a:ext cx="335825" cy="335850"/>
            </a:xfrm>
            <a:prstGeom prst="rect">
              <a:avLst/>
            </a:prstGeom>
            <a:noFill/>
            <a:ln>
              <a:noFill/>
            </a:ln>
          </p:spPr>
        </p:pic>
      </p:grpSp>
      <p:grpSp>
        <p:nvGrpSpPr>
          <p:cNvPr id="127" name="Google Shape;127;p17"/>
          <p:cNvGrpSpPr/>
          <p:nvPr/>
        </p:nvGrpSpPr>
        <p:grpSpPr>
          <a:xfrm>
            <a:off x="4937490" y="3529797"/>
            <a:ext cx="1132903" cy="466300"/>
            <a:chOff x="4632850" y="4014663"/>
            <a:chExt cx="1189525" cy="468454"/>
          </a:xfrm>
        </p:grpSpPr>
        <p:pic>
          <p:nvPicPr>
            <p:cNvPr id="128" name="Google Shape;128;p17"/>
            <p:cNvPicPr preferRelativeResize="0"/>
            <p:nvPr/>
          </p:nvPicPr>
          <p:blipFill>
            <a:blip r:embed="rId6">
              <a:alphaModFix/>
            </a:blip>
            <a:stretch>
              <a:fillRect/>
            </a:stretch>
          </p:blipFill>
          <p:spPr>
            <a:xfrm>
              <a:off x="4632850" y="4014663"/>
              <a:ext cx="468425" cy="468454"/>
            </a:xfrm>
            <a:prstGeom prst="rect">
              <a:avLst/>
            </a:prstGeom>
            <a:noFill/>
            <a:ln>
              <a:noFill/>
            </a:ln>
          </p:spPr>
        </p:pic>
        <p:pic>
          <p:nvPicPr>
            <p:cNvPr id="129" name="Google Shape;129;p17"/>
            <p:cNvPicPr preferRelativeResize="0"/>
            <p:nvPr/>
          </p:nvPicPr>
          <p:blipFill>
            <a:blip r:embed="rId5">
              <a:alphaModFix/>
            </a:blip>
            <a:stretch>
              <a:fillRect/>
            </a:stretch>
          </p:blipFill>
          <p:spPr>
            <a:xfrm>
              <a:off x="5486550" y="4080963"/>
              <a:ext cx="335825" cy="335850"/>
            </a:xfrm>
            <a:prstGeom prst="rect">
              <a:avLst/>
            </a:prstGeom>
            <a:noFill/>
            <a:ln>
              <a:noFill/>
            </a:ln>
          </p:spPr>
        </p:pic>
        <p:cxnSp>
          <p:nvCxnSpPr>
            <p:cNvPr id="130" name="Google Shape;130;p17"/>
            <p:cNvCxnSpPr>
              <a:stCxn id="128" idx="3"/>
              <a:endCxn id="129" idx="1"/>
            </p:cNvCxnSpPr>
            <p:nvPr/>
          </p:nvCxnSpPr>
          <p:spPr>
            <a:xfrm>
              <a:off x="5101275" y="4248890"/>
              <a:ext cx="385200" cy="0"/>
            </a:xfrm>
            <a:prstGeom prst="straightConnector1">
              <a:avLst/>
            </a:prstGeom>
            <a:noFill/>
            <a:ln cap="flat" cmpd="sng" w="9525">
              <a:solidFill>
                <a:schemeClr val="dk2"/>
              </a:solidFill>
              <a:prstDash val="solid"/>
              <a:round/>
              <a:headEnd len="med" w="med" type="none"/>
              <a:tailEnd len="med" w="med" type="triangle"/>
            </a:ln>
          </p:spPr>
        </p:cxnSp>
      </p:grpSp>
      <p:sp>
        <p:nvSpPr>
          <p:cNvPr id="131" name="Google Shape;131;p17"/>
          <p:cNvSpPr/>
          <p:nvPr/>
        </p:nvSpPr>
        <p:spPr>
          <a:xfrm>
            <a:off x="7782048" y="1669351"/>
            <a:ext cx="690600" cy="745200"/>
          </a:xfrm>
          <a:prstGeom prst="ellipse">
            <a:avLst/>
          </a:prstGeom>
          <a:no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7"/>
          <p:cNvSpPr/>
          <p:nvPr/>
        </p:nvSpPr>
        <p:spPr>
          <a:xfrm>
            <a:off x="6542912" y="1669331"/>
            <a:ext cx="690600" cy="745200"/>
          </a:xfrm>
          <a:prstGeom prst="ellipse">
            <a:avLst/>
          </a:prstGeom>
          <a:no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3" name="Google Shape;133;p17"/>
          <p:cNvCxnSpPr>
            <a:stCxn id="103" idx="3"/>
            <a:endCxn id="132" idx="2"/>
          </p:cNvCxnSpPr>
          <p:nvPr/>
        </p:nvCxnSpPr>
        <p:spPr>
          <a:xfrm flipH="1" rot="10800000">
            <a:off x="5687125" y="2041890"/>
            <a:ext cx="855900" cy="4800"/>
          </a:xfrm>
          <a:prstGeom prst="straightConnector1">
            <a:avLst/>
          </a:prstGeom>
          <a:noFill/>
          <a:ln cap="flat" cmpd="sng" w="9525">
            <a:solidFill>
              <a:schemeClr val="dk2"/>
            </a:solidFill>
            <a:prstDash val="solid"/>
            <a:round/>
            <a:headEnd len="med" w="med" type="none"/>
            <a:tailEnd len="med" w="med" type="triangle"/>
          </a:ln>
        </p:spPr>
      </p:cxnSp>
      <p:cxnSp>
        <p:nvCxnSpPr>
          <p:cNvPr id="134" name="Google Shape;134;p17"/>
          <p:cNvCxnSpPr>
            <a:stCxn id="103" idx="0"/>
            <a:endCxn id="131" idx="0"/>
          </p:cNvCxnSpPr>
          <p:nvPr/>
        </p:nvCxnSpPr>
        <p:spPr>
          <a:xfrm rot="-5400000">
            <a:off x="6722812" y="269573"/>
            <a:ext cx="4800" cy="2804100"/>
          </a:xfrm>
          <a:prstGeom prst="bentConnector3">
            <a:avLst>
              <a:gd fmla="val 4278296" name="adj1"/>
            </a:avLst>
          </a:prstGeom>
          <a:noFill/>
          <a:ln cap="flat" cmpd="sng" w="9525">
            <a:solidFill>
              <a:schemeClr val="dk2"/>
            </a:solidFill>
            <a:prstDash val="solid"/>
            <a:round/>
            <a:headEnd len="med" w="med" type="none"/>
            <a:tailEnd len="med" w="med" type="triangle"/>
          </a:ln>
        </p:spPr>
      </p:cxnSp>
      <p:sp>
        <p:nvSpPr>
          <p:cNvPr id="135" name="Google Shape;135;p17"/>
          <p:cNvSpPr txBox="1"/>
          <p:nvPr/>
        </p:nvSpPr>
        <p:spPr>
          <a:xfrm>
            <a:off x="5718909" y="1669331"/>
            <a:ext cx="275400" cy="273600"/>
          </a:xfrm>
          <a:prstGeom prst="rect">
            <a:avLst/>
          </a:prstGeom>
          <a:solidFill>
            <a:srgbClr val="59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rPr>
              <a:t>2</a:t>
            </a:r>
            <a:endParaRPr sz="1800">
              <a:solidFill>
                <a:schemeClr val="lt1"/>
              </a:solidFill>
            </a:endParaRPr>
          </a:p>
        </p:txBody>
      </p:sp>
      <p:cxnSp>
        <p:nvCxnSpPr>
          <p:cNvPr id="136" name="Google Shape;136;p17"/>
          <p:cNvCxnSpPr>
            <a:endCxn id="121" idx="2"/>
          </p:cNvCxnSpPr>
          <p:nvPr/>
        </p:nvCxnSpPr>
        <p:spPr>
          <a:xfrm>
            <a:off x="5334304" y="4065620"/>
            <a:ext cx="1521900" cy="114600"/>
          </a:xfrm>
          <a:prstGeom prst="bentConnector4">
            <a:avLst>
              <a:gd fmla="val -5" name="adj1"/>
              <a:gd fmla="val 253234" name="adj2"/>
            </a:avLst>
          </a:prstGeom>
          <a:noFill/>
          <a:ln cap="flat" cmpd="sng" w="9525">
            <a:solidFill>
              <a:schemeClr val="dk2"/>
            </a:solidFill>
            <a:prstDash val="solid"/>
            <a:round/>
            <a:headEnd len="med" w="med" type="none"/>
            <a:tailEnd len="med" w="med" type="triangle"/>
          </a:ln>
        </p:spPr>
      </p:cxnSp>
      <p:cxnSp>
        <p:nvCxnSpPr>
          <p:cNvPr id="137" name="Google Shape;137;p17"/>
          <p:cNvCxnSpPr>
            <a:endCxn id="121" idx="2"/>
          </p:cNvCxnSpPr>
          <p:nvPr/>
        </p:nvCxnSpPr>
        <p:spPr>
          <a:xfrm flipH="1">
            <a:off x="6856204" y="4103720"/>
            <a:ext cx="1471200" cy="76500"/>
          </a:xfrm>
          <a:prstGeom prst="bentConnector4">
            <a:avLst>
              <a:gd fmla="val -4" name="adj1"/>
              <a:gd fmla="val 329408" name="adj2"/>
            </a:avLst>
          </a:prstGeom>
          <a:noFill/>
          <a:ln cap="flat" cmpd="sng" w="9525">
            <a:solidFill>
              <a:schemeClr val="dk2"/>
            </a:solidFill>
            <a:prstDash val="solid"/>
            <a:round/>
            <a:headEnd len="med" w="med" type="none"/>
            <a:tailEnd len="med" w="med" type="triangle"/>
          </a:ln>
        </p:spPr>
      </p:cxnSp>
      <p:sp>
        <p:nvSpPr>
          <p:cNvPr id="138" name="Google Shape;138;p17"/>
          <p:cNvSpPr txBox="1"/>
          <p:nvPr/>
        </p:nvSpPr>
        <p:spPr>
          <a:xfrm>
            <a:off x="6708538" y="4389898"/>
            <a:ext cx="295800" cy="247800"/>
          </a:xfrm>
          <a:prstGeom prst="rect">
            <a:avLst/>
          </a:prstGeom>
          <a:solidFill>
            <a:srgbClr val="59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rPr>
              <a:t>1</a:t>
            </a:r>
            <a:endParaRPr sz="1800">
              <a:solidFill>
                <a:schemeClr val="lt1"/>
              </a:solidFill>
            </a:endParaRPr>
          </a:p>
        </p:txBody>
      </p:sp>
      <p:sp>
        <p:nvSpPr>
          <p:cNvPr id="139" name="Google Shape;139;p17"/>
          <p:cNvSpPr txBox="1"/>
          <p:nvPr/>
        </p:nvSpPr>
        <p:spPr>
          <a:xfrm>
            <a:off x="7349342" y="2525212"/>
            <a:ext cx="275400" cy="273600"/>
          </a:xfrm>
          <a:prstGeom prst="rect">
            <a:avLst/>
          </a:prstGeom>
          <a:solidFill>
            <a:srgbClr val="59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rPr>
              <a:t>3</a:t>
            </a:r>
            <a:endParaRPr sz="1800">
              <a:solidFill>
                <a:schemeClr val="lt1"/>
              </a:solidFill>
            </a:endParaRPr>
          </a:p>
        </p:txBody>
      </p:sp>
      <p:pic>
        <p:nvPicPr>
          <p:cNvPr id="140" name="Google Shape;140;p17"/>
          <p:cNvPicPr preferRelativeResize="0"/>
          <p:nvPr/>
        </p:nvPicPr>
        <p:blipFill>
          <a:blip r:embed="rId7">
            <a:alphaModFix/>
          </a:blip>
          <a:stretch>
            <a:fillRect/>
          </a:stretch>
        </p:blipFill>
        <p:spPr>
          <a:xfrm>
            <a:off x="3891800" y="2481699"/>
            <a:ext cx="855599" cy="855601"/>
          </a:xfrm>
          <a:prstGeom prst="rect">
            <a:avLst/>
          </a:prstGeom>
          <a:noFill/>
          <a:ln>
            <a:noFill/>
          </a:ln>
        </p:spPr>
      </p:pic>
      <p:cxnSp>
        <p:nvCxnSpPr>
          <p:cNvPr id="141" name="Google Shape;141;p17"/>
          <p:cNvCxnSpPr>
            <a:stCxn id="121" idx="0"/>
            <a:endCxn id="140" idx="3"/>
          </p:cNvCxnSpPr>
          <p:nvPr/>
        </p:nvCxnSpPr>
        <p:spPr>
          <a:xfrm flipH="1" rot="5400000">
            <a:off x="5578954" y="2078025"/>
            <a:ext cx="445800" cy="2108700"/>
          </a:xfrm>
          <a:prstGeom prst="bentConnector2">
            <a:avLst/>
          </a:prstGeom>
          <a:noFill/>
          <a:ln cap="flat" cmpd="sng" w="9525">
            <a:solidFill>
              <a:schemeClr val="dk2"/>
            </a:solidFill>
            <a:prstDash val="solid"/>
            <a:round/>
            <a:headEnd len="med" w="med" type="none"/>
            <a:tailEnd len="med" w="med" type="triangle"/>
          </a:ln>
        </p:spPr>
      </p:cxnSp>
      <p:cxnSp>
        <p:nvCxnSpPr>
          <p:cNvPr id="142" name="Google Shape;142;p17"/>
          <p:cNvCxnSpPr>
            <a:stCxn id="131" idx="4"/>
            <a:endCxn id="140" idx="3"/>
          </p:cNvCxnSpPr>
          <p:nvPr/>
        </p:nvCxnSpPr>
        <p:spPr>
          <a:xfrm rot="5400000">
            <a:off x="6189948" y="972151"/>
            <a:ext cx="495000" cy="3379800"/>
          </a:xfrm>
          <a:prstGeom prst="bentConnector2">
            <a:avLst/>
          </a:prstGeom>
          <a:noFill/>
          <a:ln cap="flat" cmpd="sng" w="9525">
            <a:solidFill>
              <a:schemeClr val="dk2"/>
            </a:solidFill>
            <a:prstDash val="solid"/>
            <a:round/>
            <a:headEnd len="med" w="med" type="none"/>
            <a:tailEnd len="med" w="med" type="triangle"/>
          </a:ln>
        </p:spPr>
      </p:cxnSp>
      <p:cxnSp>
        <p:nvCxnSpPr>
          <p:cNvPr id="143" name="Google Shape;143;p17"/>
          <p:cNvCxnSpPr>
            <a:endCxn id="140" idx="3"/>
          </p:cNvCxnSpPr>
          <p:nvPr/>
        </p:nvCxnSpPr>
        <p:spPr>
          <a:xfrm flipH="1">
            <a:off x="4747399" y="2414500"/>
            <a:ext cx="2140800" cy="495000"/>
          </a:xfrm>
          <a:prstGeom prst="bentConnector3">
            <a:avLst>
              <a:gd fmla="val 36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txBox="1"/>
          <p:nvPr>
            <p:ph type="title"/>
          </p:nvPr>
        </p:nvSpPr>
        <p:spPr>
          <a:xfrm>
            <a:off x="311700" y="445025"/>
            <a:ext cx="8489100" cy="572700"/>
          </a:xfrm>
          <a:prstGeom prst="rect">
            <a:avLst/>
          </a:prstGeom>
          <a:solidFill>
            <a:srgbClr val="8FCF5C"/>
          </a:solid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Impact</a:t>
            </a:r>
            <a:endParaRPr>
              <a:solidFill>
                <a:schemeClr val="lt1"/>
              </a:solidFill>
            </a:endParaRPr>
          </a:p>
        </p:txBody>
      </p:sp>
      <p:sp>
        <p:nvSpPr>
          <p:cNvPr id="149" name="Google Shape;149;p18"/>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150" name="Google Shape;150;p18"/>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Adaptive Topic Recommendation System through chatbot </a:t>
            </a:r>
            <a:endParaRPr/>
          </a:p>
          <a:p>
            <a:pPr indent="0" lvl="0" marL="0" rtl="0" algn="ctr">
              <a:spcBef>
                <a:spcPts val="0"/>
              </a:spcBef>
              <a:spcAft>
                <a:spcPts val="0"/>
              </a:spcAft>
              <a:buNone/>
            </a:pPr>
            <a:r>
              <a:t/>
            </a:r>
            <a:endParaRPr/>
          </a:p>
        </p:txBody>
      </p:sp>
      <p:grpSp>
        <p:nvGrpSpPr>
          <p:cNvPr id="151" name="Google Shape;151;p18"/>
          <p:cNvGrpSpPr/>
          <p:nvPr/>
        </p:nvGrpSpPr>
        <p:grpSpPr>
          <a:xfrm>
            <a:off x="5692048" y="2700655"/>
            <a:ext cx="2341239" cy="1323167"/>
            <a:chOff x="6038025" y="2598925"/>
            <a:chExt cx="2469661" cy="1384500"/>
          </a:xfrm>
        </p:grpSpPr>
        <p:cxnSp>
          <p:nvCxnSpPr>
            <p:cNvPr id="152" name="Google Shape;152;p18"/>
            <p:cNvCxnSpPr/>
            <p:nvPr/>
          </p:nvCxnSpPr>
          <p:spPr>
            <a:xfrm>
              <a:off x="6038025" y="3312550"/>
              <a:ext cx="582000" cy="0"/>
            </a:xfrm>
            <a:prstGeom prst="straightConnector1">
              <a:avLst/>
            </a:prstGeom>
            <a:noFill/>
            <a:ln cap="flat" cmpd="sng" w="9525">
              <a:solidFill>
                <a:srgbClr val="C2C2C2"/>
              </a:solidFill>
              <a:prstDash val="solid"/>
              <a:round/>
              <a:headEnd len="sm" w="sm" type="none"/>
              <a:tailEnd len="sm" w="sm" type="none"/>
            </a:ln>
          </p:spPr>
        </p:cxnSp>
        <p:sp>
          <p:nvSpPr>
            <p:cNvPr id="153" name="Google Shape;153;p18"/>
            <p:cNvSpPr txBox="1"/>
            <p:nvPr/>
          </p:nvSpPr>
          <p:spPr>
            <a:xfrm>
              <a:off x="6640486" y="2598925"/>
              <a:ext cx="1867200" cy="138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Community</a:t>
              </a:r>
              <a:endParaRPr b="1" sz="1200">
                <a:latin typeface="Roboto"/>
                <a:ea typeface="Roboto"/>
                <a:cs typeface="Roboto"/>
                <a:sym typeface="Roboto"/>
              </a:endParaRPr>
            </a:p>
            <a:p>
              <a:pPr indent="0" lvl="0" marL="0" rtl="0" algn="l">
                <a:spcBef>
                  <a:spcPts val="0"/>
                </a:spcBef>
                <a:spcAft>
                  <a:spcPts val="0"/>
                </a:spcAft>
                <a:buNone/>
              </a:pPr>
              <a:r>
                <a:t/>
              </a:r>
              <a:endParaRPr b="1" sz="1200">
                <a:latin typeface="Roboto"/>
                <a:ea typeface="Roboto"/>
                <a:cs typeface="Roboto"/>
                <a:sym typeface="Roboto"/>
              </a:endParaRPr>
            </a:p>
            <a:p>
              <a:pPr indent="0" lvl="0" marL="0" rtl="0" algn="l">
                <a:spcBef>
                  <a:spcPts val="0"/>
                </a:spcBef>
                <a:spcAft>
                  <a:spcPts val="1600"/>
                </a:spcAft>
                <a:buNone/>
              </a:pPr>
              <a:r>
                <a:rPr lang="en" sz="800">
                  <a:latin typeface="Roboto"/>
                  <a:ea typeface="Roboto"/>
                  <a:cs typeface="Roboto"/>
                  <a:sym typeface="Roboto"/>
                </a:rPr>
                <a:t>In the community, we are empowering the capability of human potential for an equitable world.</a:t>
              </a:r>
              <a:endParaRPr b="1" sz="800">
                <a:latin typeface="Roboto"/>
                <a:ea typeface="Roboto"/>
                <a:cs typeface="Roboto"/>
                <a:sym typeface="Roboto"/>
              </a:endParaRPr>
            </a:p>
          </p:txBody>
        </p:sp>
        <p:sp>
          <p:nvSpPr>
            <p:cNvPr id="154" name="Google Shape;154;p18"/>
            <p:cNvSpPr/>
            <p:nvPr/>
          </p:nvSpPr>
          <p:spPr>
            <a:xfrm>
              <a:off x="6424027" y="3212150"/>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txBox="1"/>
            <p:nvPr/>
          </p:nvSpPr>
          <p:spPr>
            <a:xfrm>
              <a:off x="6399017" y="3156109"/>
              <a:ext cx="247500" cy="312900"/>
            </a:xfrm>
            <a:prstGeom prst="rect">
              <a:avLst/>
            </a:prstGeom>
            <a:solidFill>
              <a:srgbClr val="7DBC4C"/>
            </a:solid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sz="800">
                <a:solidFill>
                  <a:srgbClr val="FFFFFF"/>
                </a:solidFill>
                <a:latin typeface="Roboto"/>
                <a:ea typeface="Roboto"/>
                <a:cs typeface="Roboto"/>
                <a:sym typeface="Roboto"/>
              </a:endParaRPr>
            </a:p>
          </p:txBody>
        </p:sp>
      </p:grpSp>
      <p:grpSp>
        <p:nvGrpSpPr>
          <p:cNvPr id="156" name="Google Shape;156;p18"/>
          <p:cNvGrpSpPr/>
          <p:nvPr/>
        </p:nvGrpSpPr>
        <p:grpSpPr>
          <a:xfrm>
            <a:off x="571233" y="1982668"/>
            <a:ext cx="2839003" cy="1323167"/>
            <a:chOff x="636321" y="1844098"/>
            <a:chExt cx="2994729" cy="1384500"/>
          </a:xfrm>
        </p:grpSpPr>
        <p:sp>
          <p:nvSpPr>
            <p:cNvPr id="157" name="Google Shape;157;p18"/>
            <p:cNvSpPr txBox="1"/>
            <p:nvPr/>
          </p:nvSpPr>
          <p:spPr>
            <a:xfrm>
              <a:off x="636321" y="1844098"/>
              <a:ext cx="1867200" cy="1384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200">
                  <a:latin typeface="Roboto"/>
                  <a:ea typeface="Roboto"/>
                  <a:cs typeface="Roboto"/>
                  <a:sym typeface="Roboto"/>
                </a:rPr>
                <a:t>Youths (learners)</a:t>
              </a:r>
              <a:endParaRPr b="1" sz="1200">
                <a:latin typeface="Roboto"/>
                <a:ea typeface="Roboto"/>
                <a:cs typeface="Roboto"/>
                <a:sym typeface="Roboto"/>
              </a:endParaRPr>
            </a:p>
            <a:p>
              <a:pPr indent="0" lvl="0" marL="0" rtl="0" algn="r">
                <a:spcBef>
                  <a:spcPts val="0"/>
                </a:spcBef>
                <a:spcAft>
                  <a:spcPts val="0"/>
                </a:spcAft>
                <a:buNone/>
              </a:pPr>
              <a:r>
                <a:t/>
              </a:r>
              <a:endParaRPr b="1" sz="1200">
                <a:latin typeface="Roboto"/>
                <a:ea typeface="Roboto"/>
                <a:cs typeface="Roboto"/>
                <a:sym typeface="Roboto"/>
              </a:endParaRPr>
            </a:p>
            <a:p>
              <a:pPr indent="0" lvl="0" marL="0" rtl="0" algn="r">
                <a:spcBef>
                  <a:spcPts val="0"/>
                </a:spcBef>
                <a:spcAft>
                  <a:spcPts val="1600"/>
                </a:spcAft>
                <a:buNone/>
              </a:pPr>
              <a:r>
                <a:rPr lang="en" sz="800">
                  <a:latin typeface="Roboto"/>
                  <a:ea typeface="Roboto"/>
                  <a:cs typeface="Roboto"/>
                  <a:sym typeface="Roboto"/>
                </a:rPr>
                <a:t>Learners will be able to get the personalized topic recommendation based on their overall interest on topics as well as similar topics. </a:t>
              </a:r>
              <a:endParaRPr b="1" sz="800">
                <a:latin typeface="Roboto"/>
                <a:ea typeface="Roboto"/>
                <a:cs typeface="Roboto"/>
                <a:sym typeface="Roboto"/>
              </a:endParaRPr>
            </a:p>
          </p:txBody>
        </p:sp>
        <p:cxnSp>
          <p:nvCxnSpPr>
            <p:cNvPr id="158" name="Google Shape;158;p18"/>
            <p:cNvCxnSpPr/>
            <p:nvPr/>
          </p:nvCxnSpPr>
          <p:spPr>
            <a:xfrm rot="10800000">
              <a:off x="2587350" y="2536350"/>
              <a:ext cx="1043700" cy="0"/>
            </a:xfrm>
            <a:prstGeom prst="straightConnector1">
              <a:avLst/>
            </a:prstGeom>
            <a:noFill/>
            <a:ln cap="flat" cmpd="sng" w="9525">
              <a:solidFill>
                <a:srgbClr val="C2C2C2"/>
              </a:solidFill>
              <a:prstDash val="solid"/>
              <a:round/>
              <a:headEnd len="sm" w="sm" type="none"/>
              <a:tailEnd len="sm" w="sm" type="none"/>
            </a:ln>
          </p:spPr>
        </p:cxnSp>
        <p:sp>
          <p:nvSpPr>
            <p:cNvPr id="159" name="Google Shape;159;p18"/>
            <p:cNvSpPr/>
            <p:nvPr/>
          </p:nvSpPr>
          <p:spPr>
            <a:xfrm>
              <a:off x="2523501" y="2431050"/>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8"/>
            <p:cNvSpPr txBox="1"/>
            <p:nvPr/>
          </p:nvSpPr>
          <p:spPr>
            <a:xfrm>
              <a:off x="2498491" y="2373759"/>
              <a:ext cx="247500" cy="312900"/>
            </a:xfrm>
            <a:prstGeom prst="rect">
              <a:avLst/>
            </a:prstGeom>
            <a:solidFill>
              <a:srgbClr val="D45F81"/>
            </a:solid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sz="800">
                <a:solidFill>
                  <a:srgbClr val="FFFFFF"/>
                </a:solidFill>
                <a:latin typeface="Roboto"/>
                <a:ea typeface="Roboto"/>
                <a:cs typeface="Roboto"/>
                <a:sym typeface="Roboto"/>
              </a:endParaRPr>
            </a:p>
          </p:txBody>
        </p:sp>
      </p:grpSp>
      <p:cxnSp>
        <p:nvCxnSpPr>
          <p:cNvPr id="161" name="Google Shape;161;p18"/>
          <p:cNvCxnSpPr/>
          <p:nvPr/>
        </p:nvCxnSpPr>
        <p:spPr>
          <a:xfrm>
            <a:off x="4620879" y="1793554"/>
            <a:ext cx="1626000" cy="0"/>
          </a:xfrm>
          <a:prstGeom prst="straightConnector1">
            <a:avLst/>
          </a:prstGeom>
          <a:noFill/>
          <a:ln cap="flat" cmpd="sng" w="9525">
            <a:solidFill>
              <a:srgbClr val="C2C2C2"/>
            </a:solidFill>
            <a:prstDash val="solid"/>
            <a:round/>
            <a:headEnd len="sm" w="sm" type="none"/>
            <a:tailEnd len="sm" w="sm" type="none"/>
          </a:ln>
        </p:spPr>
      </p:cxnSp>
      <p:sp>
        <p:nvSpPr>
          <p:cNvPr id="162" name="Google Shape;162;p18"/>
          <p:cNvSpPr txBox="1"/>
          <p:nvPr/>
        </p:nvSpPr>
        <p:spPr>
          <a:xfrm>
            <a:off x="6275025" y="1180302"/>
            <a:ext cx="1770000" cy="102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4C55A2"/>
                </a:solidFill>
                <a:latin typeface="Roboto"/>
                <a:ea typeface="Roboto"/>
                <a:cs typeface="Roboto"/>
                <a:sym typeface="Roboto"/>
              </a:rPr>
              <a:t>Organization</a:t>
            </a:r>
            <a:endParaRPr b="1" sz="1200">
              <a:solidFill>
                <a:srgbClr val="4C55A2"/>
              </a:solidFill>
              <a:latin typeface="Roboto"/>
              <a:ea typeface="Roboto"/>
              <a:cs typeface="Roboto"/>
              <a:sym typeface="Roboto"/>
            </a:endParaRPr>
          </a:p>
          <a:p>
            <a:pPr indent="0" lvl="0" marL="0" rtl="0" algn="l">
              <a:spcBef>
                <a:spcPts val="0"/>
              </a:spcBef>
              <a:spcAft>
                <a:spcPts val="0"/>
              </a:spcAft>
              <a:buNone/>
            </a:pPr>
            <a:r>
              <a:t/>
            </a:r>
            <a:endParaRPr b="1" sz="1200">
              <a:latin typeface="Roboto"/>
              <a:ea typeface="Roboto"/>
              <a:cs typeface="Roboto"/>
              <a:sym typeface="Roboto"/>
            </a:endParaRPr>
          </a:p>
          <a:p>
            <a:pPr indent="0" lvl="0" marL="0" rtl="0" algn="l">
              <a:spcBef>
                <a:spcPts val="0"/>
              </a:spcBef>
              <a:spcAft>
                <a:spcPts val="1600"/>
              </a:spcAft>
              <a:buNone/>
            </a:pPr>
            <a:r>
              <a:rPr lang="en" sz="800">
                <a:latin typeface="Roboto"/>
                <a:ea typeface="Roboto"/>
                <a:cs typeface="Roboto"/>
                <a:sym typeface="Roboto"/>
              </a:rPr>
              <a:t>Organization will be able to allocate the </a:t>
            </a:r>
            <a:r>
              <a:rPr lang="en" sz="800">
                <a:latin typeface="Roboto"/>
                <a:ea typeface="Roboto"/>
                <a:cs typeface="Roboto"/>
                <a:sym typeface="Roboto"/>
              </a:rPr>
              <a:t>resources</a:t>
            </a:r>
            <a:r>
              <a:rPr lang="en" sz="800">
                <a:latin typeface="Roboto"/>
                <a:ea typeface="Roboto"/>
                <a:cs typeface="Roboto"/>
                <a:sym typeface="Roboto"/>
              </a:rPr>
              <a:t> which meets with the demand/goal of the learners. </a:t>
            </a:r>
            <a:endParaRPr b="1" sz="800">
              <a:latin typeface="Roboto"/>
              <a:ea typeface="Roboto"/>
              <a:cs typeface="Roboto"/>
              <a:sym typeface="Roboto"/>
            </a:endParaRPr>
          </a:p>
        </p:txBody>
      </p:sp>
      <p:sp>
        <p:nvSpPr>
          <p:cNvPr id="163" name="Google Shape;163;p18"/>
          <p:cNvSpPr txBox="1"/>
          <p:nvPr/>
        </p:nvSpPr>
        <p:spPr>
          <a:xfrm>
            <a:off x="6004349" y="1643575"/>
            <a:ext cx="234600" cy="299100"/>
          </a:xfrm>
          <a:prstGeom prst="rect">
            <a:avLst/>
          </a:prstGeom>
          <a:solidFill>
            <a:srgbClr val="4C55A2"/>
          </a:solid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sz="800">
              <a:solidFill>
                <a:srgbClr val="FFFFFF"/>
              </a:solidFill>
              <a:latin typeface="Roboto"/>
              <a:ea typeface="Roboto"/>
              <a:cs typeface="Roboto"/>
              <a:sym typeface="Roboto"/>
            </a:endParaRPr>
          </a:p>
        </p:txBody>
      </p:sp>
      <p:grpSp>
        <p:nvGrpSpPr>
          <p:cNvPr id="164" name="Google Shape;164;p18"/>
          <p:cNvGrpSpPr/>
          <p:nvPr/>
        </p:nvGrpSpPr>
        <p:grpSpPr>
          <a:xfrm>
            <a:off x="2636231" y="1320389"/>
            <a:ext cx="3332041" cy="3107939"/>
            <a:chOff x="2991269" y="1153325"/>
            <a:chExt cx="3514811" cy="3252003"/>
          </a:xfrm>
        </p:grpSpPr>
        <p:sp>
          <p:nvSpPr>
            <p:cNvPr id="165" name="Google Shape;165;p18"/>
            <p:cNvSpPr/>
            <p:nvPr/>
          </p:nvSpPr>
          <p:spPr>
            <a:xfrm>
              <a:off x="3477586" y="2585458"/>
              <a:ext cx="2541910" cy="950456"/>
            </a:xfrm>
            <a:custGeom>
              <a:rect b="b" l="l" r="r" t="t"/>
              <a:pathLst>
                <a:path extrusionOk="0" h="43529" w="126826">
                  <a:moveTo>
                    <a:pt x="0" y="20002"/>
                  </a:moveTo>
                  <a:lnTo>
                    <a:pt x="63389" y="43529"/>
                  </a:lnTo>
                  <a:lnTo>
                    <a:pt x="126826" y="19907"/>
                  </a:lnTo>
                  <a:lnTo>
                    <a:pt x="63580" y="0"/>
                  </a:lnTo>
                  <a:close/>
                </a:path>
              </a:pathLst>
            </a:custGeom>
            <a:solidFill>
              <a:srgbClr val="D9D9D9"/>
            </a:solidFill>
            <a:ln>
              <a:noFill/>
            </a:ln>
          </p:spPr>
        </p:sp>
        <p:sp>
          <p:nvSpPr>
            <p:cNvPr id="166" name="Google Shape;166;p18"/>
            <p:cNvSpPr/>
            <p:nvPr/>
          </p:nvSpPr>
          <p:spPr>
            <a:xfrm>
              <a:off x="2991269"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8FCF5C"/>
            </a:solidFill>
            <a:ln>
              <a:noFill/>
            </a:ln>
          </p:spPr>
        </p:sp>
        <p:sp>
          <p:nvSpPr>
            <p:cNvPr id="167" name="Google Shape;167;p18"/>
            <p:cNvSpPr/>
            <p:nvPr/>
          </p:nvSpPr>
          <p:spPr>
            <a:xfrm flipH="1">
              <a:off x="4747852"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A0DB70"/>
            </a:solidFill>
            <a:ln>
              <a:noFill/>
            </a:ln>
          </p:spPr>
        </p:sp>
        <p:sp>
          <p:nvSpPr>
            <p:cNvPr id="168" name="Google Shape;168;p18"/>
            <p:cNvSpPr/>
            <p:nvPr/>
          </p:nvSpPr>
          <p:spPr>
            <a:xfrm>
              <a:off x="3969199" y="2001324"/>
              <a:ext cx="1565850" cy="585863"/>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169" name="Google Shape;169;p18"/>
            <p:cNvSpPr/>
            <p:nvPr/>
          </p:nvSpPr>
          <p:spPr>
            <a:xfrm>
              <a:off x="356325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D25E83"/>
            </a:solidFill>
            <a:ln>
              <a:noFill/>
            </a:ln>
          </p:spPr>
        </p:sp>
        <p:sp>
          <p:nvSpPr>
            <p:cNvPr id="170" name="Google Shape;170;p18"/>
            <p:cNvSpPr/>
            <p:nvPr/>
          </p:nvSpPr>
          <p:spPr>
            <a:xfrm flipH="1">
              <a:off x="474936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E07F9E"/>
            </a:solidFill>
            <a:ln>
              <a:noFill/>
            </a:ln>
          </p:spPr>
        </p:sp>
        <p:sp>
          <p:nvSpPr>
            <p:cNvPr id="171" name="Google Shape;171;p18"/>
            <p:cNvSpPr/>
            <p:nvPr/>
          </p:nvSpPr>
          <p:spPr>
            <a:xfrm>
              <a:off x="4059061" y="1153325"/>
              <a:ext cx="693508" cy="1201140"/>
            </a:xfrm>
            <a:custGeom>
              <a:rect b="b" l="l" r="r" t="t"/>
              <a:pathLst>
                <a:path extrusionOk="0" h="16697" w="10635">
                  <a:moveTo>
                    <a:pt x="10635" y="0"/>
                  </a:moveTo>
                  <a:lnTo>
                    <a:pt x="0" y="12722"/>
                  </a:lnTo>
                  <a:lnTo>
                    <a:pt x="10635" y="16697"/>
                  </a:lnTo>
                  <a:close/>
                </a:path>
              </a:pathLst>
            </a:custGeom>
            <a:solidFill>
              <a:srgbClr val="4D56A1"/>
            </a:solidFill>
            <a:ln>
              <a:noFill/>
            </a:ln>
          </p:spPr>
        </p:sp>
        <p:sp>
          <p:nvSpPr>
            <p:cNvPr id="172" name="Google Shape;172;p18"/>
            <p:cNvSpPr/>
            <p:nvPr/>
          </p:nvSpPr>
          <p:spPr>
            <a:xfrm flipH="1">
              <a:off x="4749350" y="1153325"/>
              <a:ext cx="693508" cy="1201140"/>
            </a:xfrm>
            <a:custGeom>
              <a:rect b="b" l="l" r="r" t="t"/>
              <a:pathLst>
                <a:path extrusionOk="0" h="16697" w="10635">
                  <a:moveTo>
                    <a:pt x="10635" y="0"/>
                  </a:moveTo>
                  <a:lnTo>
                    <a:pt x="0" y="12722"/>
                  </a:lnTo>
                  <a:lnTo>
                    <a:pt x="10635" y="16697"/>
                  </a:lnTo>
                  <a:close/>
                </a:path>
              </a:pathLst>
            </a:custGeom>
            <a:solidFill>
              <a:srgbClr val="5962AF"/>
            </a:solidFill>
            <a:ln>
              <a:noFill/>
            </a:ln>
          </p:spPr>
        </p:sp>
      </p:grpSp>
      <p:sp>
        <p:nvSpPr>
          <p:cNvPr id="173" name="Google Shape;173;p18"/>
          <p:cNvSpPr/>
          <p:nvPr/>
        </p:nvSpPr>
        <p:spPr>
          <a:xfrm>
            <a:off x="1190525" y="3643100"/>
            <a:ext cx="1121100" cy="379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highlight>
                  <a:srgbClr val="4C55A2"/>
                </a:highlight>
                <a:latin typeface="Roboto Black"/>
                <a:ea typeface="Roboto Black"/>
                <a:cs typeface="Roboto Black"/>
                <a:sym typeface="Roboto Black"/>
              </a:rPr>
              <a:t>64%</a:t>
            </a:r>
            <a:r>
              <a:rPr lang="en" sz="1200">
                <a:latin typeface="Roboto Black"/>
                <a:ea typeface="Roboto Black"/>
                <a:cs typeface="Roboto Black"/>
                <a:sym typeface="Roboto Black"/>
              </a:rPr>
              <a:t>  </a:t>
            </a:r>
            <a:r>
              <a:rPr lang="en" sz="1200">
                <a:latin typeface="Roboto Medium"/>
                <a:ea typeface="Roboto Medium"/>
                <a:cs typeface="Roboto Medium"/>
                <a:sym typeface="Roboto Medium"/>
              </a:rPr>
              <a:t>women</a:t>
            </a:r>
            <a:endParaRPr sz="1200">
              <a:latin typeface="Roboto Medium"/>
              <a:ea typeface="Roboto Medium"/>
              <a:cs typeface="Roboto Medium"/>
              <a:sym typeface="Roboto Medium"/>
            </a:endParaRPr>
          </a:p>
        </p:txBody>
      </p:sp>
      <p:sp>
        <p:nvSpPr>
          <p:cNvPr id="174" name="Google Shape;174;p18"/>
          <p:cNvSpPr/>
          <p:nvPr/>
        </p:nvSpPr>
        <p:spPr>
          <a:xfrm>
            <a:off x="1325350" y="4124250"/>
            <a:ext cx="1407600" cy="379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highlight>
                  <a:srgbClr val="D45F81"/>
                </a:highlight>
                <a:latin typeface="Roboto Black"/>
                <a:ea typeface="Roboto Black"/>
                <a:cs typeface="Roboto Black"/>
                <a:sym typeface="Roboto Black"/>
              </a:rPr>
              <a:t>47% </a:t>
            </a:r>
            <a:r>
              <a:rPr lang="en" sz="1200">
                <a:latin typeface="Roboto Medium"/>
                <a:ea typeface="Roboto Medium"/>
                <a:cs typeface="Roboto Medium"/>
                <a:sym typeface="Roboto Medium"/>
              </a:rPr>
              <a:t> rural regions</a:t>
            </a:r>
            <a:endParaRPr sz="1200">
              <a:latin typeface="Roboto Medium"/>
              <a:ea typeface="Roboto Medium"/>
              <a:cs typeface="Roboto Medium"/>
              <a:sym typeface="Roboto Medium"/>
            </a:endParaRPr>
          </a:p>
        </p:txBody>
      </p:sp>
      <p:grpSp>
        <p:nvGrpSpPr>
          <p:cNvPr id="175" name="Google Shape;175;p18"/>
          <p:cNvGrpSpPr/>
          <p:nvPr/>
        </p:nvGrpSpPr>
        <p:grpSpPr>
          <a:xfrm>
            <a:off x="7453808" y="2016900"/>
            <a:ext cx="1079370" cy="827543"/>
            <a:chOff x="4257100" y="1509019"/>
            <a:chExt cx="1298099" cy="1298106"/>
          </a:xfrm>
        </p:grpSpPr>
        <p:grpSp>
          <p:nvGrpSpPr>
            <p:cNvPr id="176" name="Google Shape;176;p18"/>
            <p:cNvGrpSpPr/>
            <p:nvPr/>
          </p:nvGrpSpPr>
          <p:grpSpPr>
            <a:xfrm>
              <a:off x="4257100" y="1509019"/>
              <a:ext cx="1298099" cy="1298106"/>
              <a:chOff x="2970075" y="1543044"/>
              <a:chExt cx="1298099" cy="1298106"/>
            </a:xfrm>
          </p:grpSpPr>
          <p:sp>
            <p:nvSpPr>
              <p:cNvPr id="177" name="Google Shape;177;p18"/>
              <p:cNvSpPr/>
              <p:nvPr/>
            </p:nvSpPr>
            <p:spPr>
              <a:xfrm>
                <a:off x="2970075" y="2192550"/>
                <a:ext cx="649500" cy="647700"/>
              </a:xfrm>
              <a:prstGeom prst="teardrop">
                <a:avLst>
                  <a:gd fmla="val 100000" name="adj"/>
                </a:avLst>
              </a:prstGeom>
              <a:solidFill>
                <a:srgbClr val="8FCF5C"/>
              </a:solidFill>
              <a:ln cap="flat" cmpd="sng" w="9525">
                <a:solidFill>
                  <a:srgbClr val="8FCF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sp>
            <p:nvSpPr>
              <p:cNvPr id="178" name="Google Shape;178;p18"/>
              <p:cNvSpPr/>
              <p:nvPr/>
            </p:nvSpPr>
            <p:spPr>
              <a:xfrm rot="-5400000">
                <a:off x="3618675" y="2192550"/>
                <a:ext cx="649500" cy="647700"/>
              </a:xfrm>
              <a:prstGeom prst="teardrop">
                <a:avLst>
                  <a:gd fmla="val 100000" name="adj"/>
                </a:avLst>
              </a:prstGeom>
              <a:solidFill>
                <a:srgbClr val="4C55A2"/>
              </a:solidFill>
              <a:ln cap="flat" cmpd="sng" w="9525">
                <a:solidFill>
                  <a:srgbClr val="4D56A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sp>
            <p:nvSpPr>
              <p:cNvPr id="179" name="Google Shape;179;p18"/>
              <p:cNvSpPr/>
              <p:nvPr/>
            </p:nvSpPr>
            <p:spPr>
              <a:xfrm rot="10800000">
                <a:off x="3618674" y="1543942"/>
                <a:ext cx="649500" cy="647700"/>
              </a:xfrm>
              <a:prstGeom prst="teardrop">
                <a:avLst>
                  <a:gd fmla="val 100000" name="adj"/>
                </a:avLst>
              </a:prstGeom>
              <a:solidFill>
                <a:srgbClr val="D25E83"/>
              </a:solidFill>
              <a:ln cap="flat" cmpd="sng" w="9525">
                <a:solidFill>
                  <a:srgbClr val="D25E8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sp>
            <p:nvSpPr>
              <p:cNvPr id="180" name="Google Shape;180;p18"/>
              <p:cNvSpPr/>
              <p:nvPr/>
            </p:nvSpPr>
            <p:spPr>
              <a:xfrm rot="5400000">
                <a:off x="2970079" y="1543944"/>
                <a:ext cx="649500" cy="647700"/>
              </a:xfrm>
              <a:prstGeom prst="teardrop">
                <a:avLst>
                  <a:gd fmla="val 100000" name="adj"/>
                </a:avLst>
              </a:prstGeom>
              <a:solidFill>
                <a:srgbClr val="91CADB"/>
              </a:solidFill>
              <a:ln cap="flat" cmpd="sng" w="9525">
                <a:solidFill>
                  <a:srgbClr val="91CA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grpSp>
        <p:sp>
          <p:nvSpPr>
            <p:cNvPr id="181" name="Google Shape;181;p18"/>
            <p:cNvSpPr txBox="1"/>
            <p:nvPr/>
          </p:nvSpPr>
          <p:spPr>
            <a:xfrm>
              <a:off x="4372275" y="2261926"/>
              <a:ext cx="5022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600">
                  <a:solidFill>
                    <a:schemeClr val="lt1"/>
                  </a:solidFill>
                  <a:latin typeface="Roboto"/>
                  <a:ea typeface="Roboto"/>
                  <a:cs typeface="Roboto"/>
                  <a:sym typeface="Roboto"/>
                </a:rPr>
                <a:t>tech</a:t>
              </a:r>
              <a:endParaRPr b="1" sz="600">
                <a:solidFill>
                  <a:schemeClr val="lt1"/>
                </a:solidFill>
                <a:latin typeface="Roboto"/>
                <a:ea typeface="Roboto"/>
                <a:cs typeface="Roboto"/>
                <a:sym typeface="Roboto"/>
              </a:endParaRPr>
            </a:p>
          </p:txBody>
        </p:sp>
        <p:sp>
          <p:nvSpPr>
            <p:cNvPr id="182" name="Google Shape;182;p18"/>
            <p:cNvSpPr txBox="1"/>
            <p:nvPr/>
          </p:nvSpPr>
          <p:spPr>
            <a:xfrm>
              <a:off x="4949900" y="2261926"/>
              <a:ext cx="5022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00">
                  <a:solidFill>
                    <a:schemeClr val="lt1"/>
                  </a:solidFill>
                  <a:latin typeface="Roboto"/>
                  <a:ea typeface="Roboto"/>
                  <a:cs typeface="Roboto"/>
                  <a:sym typeface="Roboto"/>
                </a:rPr>
                <a:t>product</a:t>
              </a:r>
              <a:endParaRPr b="1" sz="500">
                <a:solidFill>
                  <a:schemeClr val="lt1"/>
                </a:solidFill>
                <a:latin typeface="Roboto"/>
                <a:ea typeface="Roboto"/>
                <a:cs typeface="Roboto"/>
                <a:sym typeface="Roboto"/>
              </a:endParaRPr>
            </a:p>
          </p:txBody>
        </p:sp>
        <p:sp>
          <p:nvSpPr>
            <p:cNvPr id="183" name="Google Shape;183;p18"/>
            <p:cNvSpPr txBox="1"/>
            <p:nvPr/>
          </p:nvSpPr>
          <p:spPr>
            <a:xfrm>
              <a:off x="4860650" y="1659271"/>
              <a:ext cx="6807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600">
                  <a:solidFill>
                    <a:schemeClr val="lt1"/>
                  </a:solidFill>
                  <a:latin typeface="Roboto"/>
                  <a:ea typeface="Roboto"/>
                  <a:cs typeface="Roboto"/>
                  <a:sym typeface="Roboto"/>
                </a:rPr>
                <a:t>content</a:t>
              </a:r>
              <a:endParaRPr b="1" sz="600">
                <a:solidFill>
                  <a:schemeClr val="lt1"/>
                </a:solidFill>
                <a:latin typeface="Roboto"/>
                <a:ea typeface="Roboto"/>
                <a:cs typeface="Roboto"/>
                <a:sym typeface="Roboto"/>
              </a:endParaRPr>
            </a:p>
          </p:txBody>
        </p:sp>
        <p:sp>
          <p:nvSpPr>
            <p:cNvPr id="184" name="Google Shape;184;p18"/>
            <p:cNvSpPr txBox="1"/>
            <p:nvPr/>
          </p:nvSpPr>
          <p:spPr>
            <a:xfrm>
              <a:off x="4283025" y="1659271"/>
              <a:ext cx="6807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600">
                  <a:solidFill>
                    <a:schemeClr val="lt1"/>
                  </a:solidFill>
                  <a:latin typeface="Roboto"/>
                  <a:ea typeface="Roboto"/>
                  <a:cs typeface="Roboto"/>
                  <a:sym typeface="Roboto"/>
                </a:rPr>
                <a:t>marketing</a:t>
              </a:r>
              <a:endParaRPr b="1" sz="600">
                <a:solidFill>
                  <a:schemeClr val="lt1"/>
                </a:solidFill>
                <a:latin typeface="Roboto"/>
                <a:ea typeface="Roboto"/>
                <a:cs typeface="Roboto"/>
                <a:sym typeface="Roboto"/>
              </a:endParaRPr>
            </a:p>
          </p:txBody>
        </p:sp>
      </p:grpSp>
      <p:sp>
        <p:nvSpPr>
          <p:cNvPr id="185" name="Google Shape;185;p18"/>
          <p:cNvSpPr/>
          <p:nvPr/>
        </p:nvSpPr>
        <p:spPr>
          <a:xfrm>
            <a:off x="6238950" y="3843625"/>
            <a:ext cx="1806000" cy="526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highlight>
                  <a:srgbClr val="8FCF5C"/>
                </a:highlight>
                <a:latin typeface="Roboto Black"/>
                <a:ea typeface="Roboto Black"/>
                <a:cs typeface="Roboto Black"/>
                <a:sym typeface="Roboto Black"/>
              </a:rPr>
              <a:t>1.1% (638,000 pax)</a:t>
            </a:r>
            <a:r>
              <a:rPr lang="en" sz="1200">
                <a:latin typeface="Roboto Black"/>
                <a:ea typeface="Roboto Black"/>
                <a:cs typeface="Roboto Black"/>
                <a:sym typeface="Roboto Black"/>
              </a:rPr>
              <a:t>  </a:t>
            </a:r>
            <a:endParaRPr sz="1200">
              <a:latin typeface="Roboto Black"/>
              <a:ea typeface="Roboto Black"/>
              <a:cs typeface="Roboto Black"/>
              <a:sym typeface="Roboto Black"/>
            </a:endParaRPr>
          </a:p>
          <a:p>
            <a:pPr indent="0" lvl="0" marL="0" rtl="0" algn="l">
              <a:spcBef>
                <a:spcPts val="0"/>
              </a:spcBef>
              <a:spcAft>
                <a:spcPts val="0"/>
              </a:spcAft>
              <a:buNone/>
            </a:pPr>
            <a:r>
              <a:rPr lang="en" sz="1200">
                <a:latin typeface="Roboto Medium"/>
                <a:ea typeface="Roboto Medium"/>
                <a:cs typeface="Roboto Medium"/>
                <a:sym typeface="Roboto Medium"/>
              </a:rPr>
              <a:t>of Myanmar Population</a:t>
            </a:r>
            <a:endParaRPr sz="1200">
              <a:latin typeface="Roboto Medium"/>
              <a:ea typeface="Roboto Medium"/>
              <a:cs typeface="Roboto Medium"/>
              <a:sym typeface="Roboto Medium"/>
            </a:endParaRPr>
          </a:p>
        </p:txBody>
      </p:sp>
      <p:sp>
        <p:nvSpPr>
          <p:cNvPr id="186" name="Google Shape;186;p18"/>
          <p:cNvSpPr/>
          <p:nvPr/>
        </p:nvSpPr>
        <p:spPr>
          <a:xfrm>
            <a:off x="508425" y="3161950"/>
            <a:ext cx="1339500" cy="379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highlight>
                  <a:srgbClr val="8FCF5C"/>
                </a:highlight>
                <a:latin typeface="Roboto Black"/>
                <a:ea typeface="Roboto Black"/>
                <a:cs typeface="Roboto Black"/>
                <a:sym typeface="Roboto Black"/>
              </a:rPr>
              <a:t>+77,000+</a:t>
            </a:r>
            <a:r>
              <a:rPr lang="en" sz="1200">
                <a:latin typeface="Roboto Black"/>
                <a:ea typeface="Roboto Black"/>
                <a:cs typeface="Roboto Black"/>
                <a:sym typeface="Roboto Black"/>
              </a:rPr>
              <a:t>  </a:t>
            </a:r>
            <a:r>
              <a:rPr lang="en" sz="1200">
                <a:latin typeface="Roboto Medium"/>
                <a:ea typeface="Roboto Medium"/>
                <a:cs typeface="Roboto Medium"/>
                <a:sym typeface="Roboto Medium"/>
              </a:rPr>
              <a:t>Users</a:t>
            </a:r>
            <a:endParaRPr sz="1200">
              <a:latin typeface="Roboto Medium"/>
              <a:ea typeface="Roboto Medium"/>
              <a:cs typeface="Roboto Medium"/>
              <a:sym typeface="Robot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192" name="Google Shape;192;p19"/>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Adaptive Topic Recommendation System through chatbot </a:t>
            </a:r>
            <a:endParaRPr/>
          </a:p>
          <a:p>
            <a:pPr indent="0" lvl="0" marL="0" rtl="0" algn="ctr">
              <a:spcBef>
                <a:spcPts val="0"/>
              </a:spcBef>
              <a:spcAft>
                <a:spcPts val="0"/>
              </a:spcAft>
              <a:buNone/>
            </a:pPr>
            <a:r>
              <a:t/>
            </a:r>
            <a:endParaRPr/>
          </a:p>
        </p:txBody>
      </p:sp>
      <p:grpSp>
        <p:nvGrpSpPr>
          <p:cNvPr id="193" name="Google Shape;193;p19"/>
          <p:cNvGrpSpPr/>
          <p:nvPr/>
        </p:nvGrpSpPr>
        <p:grpSpPr>
          <a:xfrm>
            <a:off x="-212759" y="-6"/>
            <a:ext cx="3772095" cy="4473455"/>
            <a:chOff x="2991269" y="1153325"/>
            <a:chExt cx="3514811" cy="3252003"/>
          </a:xfrm>
        </p:grpSpPr>
        <p:sp>
          <p:nvSpPr>
            <p:cNvPr id="194" name="Google Shape;194;p19"/>
            <p:cNvSpPr/>
            <p:nvPr/>
          </p:nvSpPr>
          <p:spPr>
            <a:xfrm>
              <a:off x="3477586" y="2585458"/>
              <a:ext cx="2541910" cy="950456"/>
            </a:xfrm>
            <a:custGeom>
              <a:rect b="b" l="l" r="r" t="t"/>
              <a:pathLst>
                <a:path extrusionOk="0" h="43529" w="126826">
                  <a:moveTo>
                    <a:pt x="0" y="20002"/>
                  </a:moveTo>
                  <a:lnTo>
                    <a:pt x="63389" y="43529"/>
                  </a:lnTo>
                  <a:lnTo>
                    <a:pt x="126826" y="19907"/>
                  </a:lnTo>
                  <a:lnTo>
                    <a:pt x="63580" y="0"/>
                  </a:lnTo>
                  <a:close/>
                </a:path>
              </a:pathLst>
            </a:custGeom>
            <a:solidFill>
              <a:srgbClr val="D9D9D9"/>
            </a:solidFill>
            <a:ln>
              <a:noFill/>
            </a:ln>
          </p:spPr>
        </p:sp>
        <p:sp>
          <p:nvSpPr>
            <p:cNvPr id="195" name="Google Shape;195;p19"/>
            <p:cNvSpPr/>
            <p:nvPr/>
          </p:nvSpPr>
          <p:spPr>
            <a:xfrm>
              <a:off x="2991269"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666666"/>
            </a:solidFill>
            <a:ln>
              <a:noFill/>
            </a:ln>
          </p:spPr>
        </p:sp>
        <p:sp>
          <p:nvSpPr>
            <p:cNvPr id="196" name="Google Shape;196;p19"/>
            <p:cNvSpPr/>
            <p:nvPr/>
          </p:nvSpPr>
          <p:spPr>
            <a:xfrm flipH="1">
              <a:off x="4747852"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666666"/>
            </a:solidFill>
            <a:ln>
              <a:noFill/>
            </a:ln>
          </p:spPr>
        </p:sp>
        <p:sp>
          <p:nvSpPr>
            <p:cNvPr id="197" name="Google Shape;197;p19"/>
            <p:cNvSpPr/>
            <p:nvPr/>
          </p:nvSpPr>
          <p:spPr>
            <a:xfrm>
              <a:off x="3969199" y="2001324"/>
              <a:ext cx="1565850" cy="585863"/>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198" name="Google Shape;198;p19"/>
            <p:cNvSpPr/>
            <p:nvPr/>
          </p:nvSpPr>
          <p:spPr>
            <a:xfrm>
              <a:off x="3563255" y="2275837"/>
              <a:ext cx="1189300" cy="1015326"/>
            </a:xfrm>
            <a:custGeom>
              <a:rect b="b" l="l" r="r" t="t"/>
              <a:pathLst>
                <a:path extrusionOk="0" h="14114" w="18238">
                  <a:moveTo>
                    <a:pt x="6262" y="0"/>
                  </a:moveTo>
                  <a:lnTo>
                    <a:pt x="18238" y="4324"/>
                  </a:lnTo>
                  <a:lnTo>
                    <a:pt x="18238" y="14114"/>
                  </a:lnTo>
                  <a:lnTo>
                    <a:pt x="0" y="7554"/>
                  </a:lnTo>
                  <a:close/>
                </a:path>
              </a:pathLst>
            </a:custGeom>
            <a:solidFill>
              <a:schemeClr val="dk2"/>
            </a:solidFill>
            <a:ln>
              <a:noFill/>
            </a:ln>
          </p:spPr>
        </p:sp>
        <p:sp>
          <p:nvSpPr>
            <p:cNvPr id="199" name="Google Shape;199;p19"/>
            <p:cNvSpPr/>
            <p:nvPr/>
          </p:nvSpPr>
          <p:spPr>
            <a:xfrm flipH="1">
              <a:off x="4749365" y="2275837"/>
              <a:ext cx="1189300" cy="1015326"/>
            </a:xfrm>
            <a:custGeom>
              <a:rect b="b" l="l" r="r" t="t"/>
              <a:pathLst>
                <a:path extrusionOk="0" h="14114" w="18238">
                  <a:moveTo>
                    <a:pt x="6262" y="0"/>
                  </a:moveTo>
                  <a:lnTo>
                    <a:pt x="18238" y="4324"/>
                  </a:lnTo>
                  <a:lnTo>
                    <a:pt x="18238" y="14114"/>
                  </a:lnTo>
                  <a:lnTo>
                    <a:pt x="0" y="7554"/>
                  </a:lnTo>
                  <a:close/>
                </a:path>
              </a:pathLst>
            </a:custGeom>
            <a:solidFill>
              <a:schemeClr val="dk2"/>
            </a:solidFill>
            <a:ln>
              <a:noFill/>
            </a:ln>
          </p:spPr>
        </p:sp>
        <p:sp>
          <p:nvSpPr>
            <p:cNvPr id="200" name="Google Shape;200;p19"/>
            <p:cNvSpPr/>
            <p:nvPr/>
          </p:nvSpPr>
          <p:spPr>
            <a:xfrm>
              <a:off x="4059061" y="1153325"/>
              <a:ext cx="693508" cy="1201140"/>
            </a:xfrm>
            <a:custGeom>
              <a:rect b="b" l="l" r="r" t="t"/>
              <a:pathLst>
                <a:path extrusionOk="0" h="16697" w="10635">
                  <a:moveTo>
                    <a:pt x="10635" y="0"/>
                  </a:moveTo>
                  <a:lnTo>
                    <a:pt x="0" y="12722"/>
                  </a:lnTo>
                  <a:lnTo>
                    <a:pt x="10635" y="16697"/>
                  </a:lnTo>
                  <a:close/>
                </a:path>
              </a:pathLst>
            </a:custGeom>
            <a:solidFill>
              <a:srgbClr val="4C55A2"/>
            </a:solidFill>
            <a:ln>
              <a:noFill/>
            </a:ln>
          </p:spPr>
        </p:sp>
        <p:sp>
          <p:nvSpPr>
            <p:cNvPr id="201" name="Google Shape;201;p19"/>
            <p:cNvSpPr/>
            <p:nvPr/>
          </p:nvSpPr>
          <p:spPr>
            <a:xfrm flipH="1">
              <a:off x="4749350" y="1153325"/>
              <a:ext cx="693508" cy="1201140"/>
            </a:xfrm>
            <a:custGeom>
              <a:rect b="b" l="l" r="r" t="t"/>
              <a:pathLst>
                <a:path extrusionOk="0" h="16697" w="10635">
                  <a:moveTo>
                    <a:pt x="10635" y="0"/>
                  </a:moveTo>
                  <a:lnTo>
                    <a:pt x="0" y="12722"/>
                  </a:lnTo>
                  <a:lnTo>
                    <a:pt x="10635" y="16697"/>
                  </a:lnTo>
                  <a:close/>
                </a:path>
              </a:pathLst>
            </a:custGeom>
            <a:solidFill>
              <a:srgbClr val="5962AF"/>
            </a:solidFill>
            <a:ln>
              <a:noFill/>
            </a:ln>
          </p:spPr>
        </p:sp>
      </p:grpSp>
      <p:grpSp>
        <p:nvGrpSpPr>
          <p:cNvPr id="202" name="Google Shape;202;p19"/>
          <p:cNvGrpSpPr/>
          <p:nvPr/>
        </p:nvGrpSpPr>
        <p:grpSpPr>
          <a:xfrm>
            <a:off x="4480007" y="2507843"/>
            <a:ext cx="2902031" cy="1958064"/>
            <a:chOff x="4257100" y="1509019"/>
            <a:chExt cx="1298099" cy="1298106"/>
          </a:xfrm>
        </p:grpSpPr>
        <p:grpSp>
          <p:nvGrpSpPr>
            <p:cNvPr id="203" name="Google Shape;203;p19"/>
            <p:cNvGrpSpPr/>
            <p:nvPr/>
          </p:nvGrpSpPr>
          <p:grpSpPr>
            <a:xfrm>
              <a:off x="4257100" y="1509019"/>
              <a:ext cx="1298099" cy="1298106"/>
              <a:chOff x="2970075" y="1543044"/>
              <a:chExt cx="1298099" cy="1298106"/>
            </a:xfrm>
          </p:grpSpPr>
          <p:sp>
            <p:nvSpPr>
              <p:cNvPr id="204" name="Google Shape;204;p19"/>
              <p:cNvSpPr/>
              <p:nvPr/>
            </p:nvSpPr>
            <p:spPr>
              <a:xfrm>
                <a:off x="2970075" y="2192550"/>
                <a:ext cx="649500" cy="647700"/>
              </a:xfrm>
              <a:prstGeom prst="teardrop">
                <a:avLst>
                  <a:gd fmla="val 100000" name="adj"/>
                </a:avLst>
              </a:prstGeom>
              <a:solidFill>
                <a:srgbClr val="8FCF5C"/>
              </a:solidFill>
              <a:ln cap="flat" cmpd="sng" w="9525">
                <a:solidFill>
                  <a:srgbClr val="8FCF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sp>
            <p:nvSpPr>
              <p:cNvPr id="205" name="Google Shape;205;p19"/>
              <p:cNvSpPr/>
              <p:nvPr/>
            </p:nvSpPr>
            <p:spPr>
              <a:xfrm rot="-5400000">
                <a:off x="3618675" y="2192550"/>
                <a:ext cx="649500" cy="647700"/>
              </a:xfrm>
              <a:prstGeom prst="teardrop">
                <a:avLst>
                  <a:gd fmla="val 100000" name="adj"/>
                </a:avLst>
              </a:prstGeom>
              <a:solidFill>
                <a:srgbClr val="4C55A2"/>
              </a:solidFill>
              <a:ln cap="flat" cmpd="sng" w="9525">
                <a:solidFill>
                  <a:srgbClr val="4D56A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sp>
            <p:nvSpPr>
              <p:cNvPr id="206" name="Google Shape;206;p19"/>
              <p:cNvSpPr/>
              <p:nvPr/>
            </p:nvSpPr>
            <p:spPr>
              <a:xfrm rot="10800000">
                <a:off x="3618674" y="1543942"/>
                <a:ext cx="649500" cy="647700"/>
              </a:xfrm>
              <a:prstGeom prst="teardrop">
                <a:avLst>
                  <a:gd fmla="val 100000" name="adj"/>
                </a:avLst>
              </a:prstGeom>
              <a:solidFill>
                <a:srgbClr val="D25E83"/>
              </a:solidFill>
              <a:ln cap="flat" cmpd="sng" w="9525">
                <a:solidFill>
                  <a:srgbClr val="D25E8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sp>
            <p:nvSpPr>
              <p:cNvPr id="207" name="Google Shape;207;p19"/>
              <p:cNvSpPr/>
              <p:nvPr/>
            </p:nvSpPr>
            <p:spPr>
              <a:xfrm rot="5400000">
                <a:off x="2970079" y="1543944"/>
                <a:ext cx="649500" cy="647700"/>
              </a:xfrm>
              <a:prstGeom prst="teardrop">
                <a:avLst>
                  <a:gd fmla="val 100000" name="adj"/>
                </a:avLst>
              </a:prstGeom>
              <a:solidFill>
                <a:srgbClr val="91CADB"/>
              </a:solidFill>
              <a:ln cap="flat" cmpd="sng" w="9525">
                <a:solidFill>
                  <a:srgbClr val="91CA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grpSp>
        <p:sp>
          <p:nvSpPr>
            <p:cNvPr id="208" name="Google Shape;208;p19"/>
            <p:cNvSpPr txBox="1"/>
            <p:nvPr/>
          </p:nvSpPr>
          <p:spPr>
            <a:xfrm>
              <a:off x="4372275" y="2320650"/>
              <a:ext cx="5022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Roboto"/>
                  <a:ea typeface="Roboto"/>
                  <a:cs typeface="Roboto"/>
                  <a:sym typeface="Roboto"/>
                </a:rPr>
                <a:t>tech</a:t>
              </a:r>
              <a:endParaRPr b="1" sz="1500">
                <a:solidFill>
                  <a:schemeClr val="lt1"/>
                </a:solidFill>
                <a:latin typeface="Roboto"/>
                <a:ea typeface="Roboto"/>
                <a:cs typeface="Roboto"/>
                <a:sym typeface="Roboto"/>
              </a:endParaRPr>
            </a:p>
          </p:txBody>
        </p:sp>
        <p:sp>
          <p:nvSpPr>
            <p:cNvPr id="209" name="Google Shape;209;p19"/>
            <p:cNvSpPr txBox="1"/>
            <p:nvPr/>
          </p:nvSpPr>
          <p:spPr>
            <a:xfrm>
              <a:off x="4949900" y="2320650"/>
              <a:ext cx="5022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Roboto"/>
                  <a:ea typeface="Roboto"/>
                  <a:cs typeface="Roboto"/>
                  <a:sym typeface="Roboto"/>
                </a:rPr>
                <a:t>product</a:t>
              </a:r>
              <a:endParaRPr b="1" sz="1500">
                <a:solidFill>
                  <a:schemeClr val="lt1"/>
                </a:solidFill>
                <a:latin typeface="Roboto"/>
                <a:ea typeface="Roboto"/>
                <a:cs typeface="Roboto"/>
                <a:sym typeface="Roboto"/>
              </a:endParaRPr>
            </a:p>
          </p:txBody>
        </p:sp>
        <p:sp>
          <p:nvSpPr>
            <p:cNvPr id="210" name="Google Shape;210;p19"/>
            <p:cNvSpPr txBox="1"/>
            <p:nvPr/>
          </p:nvSpPr>
          <p:spPr>
            <a:xfrm>
              <a:off x="4860650" y="1730325"/>
              <a:ext cx="6807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Roboto"/>
                  <a:ea typeface="Roboto"/>
                  <a:cs typeface="Roboto"/>
                  <a:sym typeface="Roboto"/>
                </a:rPr>
                <a:t>content</a:t>
              </a:r>
              <a:endParaRPr b="1" sz="1500">
                <a:solidFill>
                  <a:schemeClr val="lt1"/>
                </a:solidFill>
                <a:latin typeface="Roboto"/>
                <a:ea typeface="Roboto"/>
                <a:cs typeface="Roboto"/>
                <a:sym typeface="Roboto"/>
              </a:endParaRPr>
            </a:p>
          </p:txBody>
        </p:sp>
        <p:sp>
          <p:nvSpPr>
            <p:cNvPr id="211" name="Google Shape;211;p19"/>
            <p:cNvSpPr txBox="1"/>
            <p:nvPr/>
          </p:nvSpPr>
          <p:spPr>
            <a:xfrm>
              <a:off x="4283025" y="1730325"/>
              <a:ext cx="6807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Roboto"/>
                  <a:ea typeface="Roboto"/>
                  <a:cs typeface="Roboto"/>
                  <a:sym typeface="Roboto"/>
                </a:rPr>
                <a:t>marketing</a:t>
              </a:r>
              <a:endParaRPr b="1" sz="1500">
                <a:solidFill>
                  <a:schemeClr val="lt1"/>
                </a:solidFill>
                <a:latin typeface="Roboto"/>
                <a:ea typeface="Roboto"/>
                <a:cs typeface="Roboto"/>
                <a:sym typeface="Roboto"/>
              </a:endParaRPr>
            </a:p>
          </p:txBody>
        </p:sp>
      </p:grpSp>
      <p:cxnSp>
        <p:nvCxnSpPr>
          <p:cNvPr id="212" name="Google Shape;212;p19"/>
          <p:cNvCxnSpPr>
            <a:stCxn id="213" idx="1"/>
          </p:cNvCxnSpPr>
          <p:nvPr/>
        </p:nvCxnSpPr>
        <p:spPr>
          <a:xfrm flipH="1">
            <a:off x="2261700" y="522488"/>
            <a:ext cx="1860000" cy="446400"/>
          </a:xfrm>
          <a:prstGeom prst="straightConnector1">
            <a:avLst/>
          </a:prstGeom>
          <a:noFill/>
          <a:ln cap="flat" cmpd="sng" w="9525">
            <a:solidFill>
              <a:srgbClr val="5962AF"/>
            </a:solidFill>
            <a:prstDash val="solid"/>
            <a:round/>
            <a:headEnd len="sm" w="sm" type="none"/>
            <a:tailEnd len="sm" w="sm" type="none"/>
          </a:ln>
        </p:spPr>
      </p:cxnSp>
      <p:sp>
        <p:nvSpPr>
          <p:cNvPr id="213" name="Google Shape;213;p19"/>
          <p:cNvSpPr txBox="1"/>
          <p:nvPr>
            <p:ph type="title"/>
          </p:nvPr>
        </p:nvSpPr>
        <p:spPr>
          <a:xfrm>
            <a:off x="4121700" y="236138"/>
            <a:ext cx="396900" cy="572700"/>
          </a:xfrm>
          <a:prstGeom prst="rect">
            <a:avLst/>
          </a:prstGeom>
          <a:solidFill>
            <a:srgbClr val="4C55A2"/>
          </a:solidFill>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rPr>
              <a:t>1</a:t>
            </a:r>
            <a:endParaRPr b="1">
              <a:solidFill>
                <a:schemeClr val="lt1"/>
              </a:solidFill>
            </a:endParaRPr>
          </a:p>
        </p:txBody>
      </p:sp>
      <p:sp>
        <p:nvSpPr>
          <p:cNvPr id="214" name="Google Shape;214;p19"/>
          <p:cNvSpPr txBox="1"/>
          <p:nvPr>
            <p:ph type="title"/>
          </p:nvPr>
        </p:nvSpPr>
        <p:spPr>
          <a:xfrm>
            <a:off x="4518600" y="236150"/>
            <a:ext cx="3370800" cy="5727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C55A2"/>
                </a:solidFill>
              </a:rPr>
              <a:t>Organization</a:t>
            </a:r>
            <a:endParaRPr b="1">
              <a:solidFill>
                <a:srgbClr val="4C55A2"/>
              </a:solidFill>
            </a:endParaRPr>
          </a:p>
        </p:txBody>
      </p:sp>
      <p:sp>
        <p:nvSpPr>
          <p:cNvPr id="215" name="Google Shape;215;p19"/>
          <p:cNvSpPr txBox="1"/>
          <p:nvPr/>
        </p:nvSpPr>
        <p:spPr>
          <a:xfrm>
            <a:off x="3972625" y="920075"/>
            <a:ext cx="3916800" cy="1243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1" sz="1200">
              <a:solidFill>
                <a:srgbClr val="D25E8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Organization will be able to allocate the resources which meets with the demand/goal of the learners</a:t>
            </a:r>
            <a:endParaRPr sz="1800">
              <a:solidFill>
                <a:schemeClr val="dk1"/>
              </a:solidFill>
              <a:latin typeface="Roboto"/>
              <a:ea typeface="Roboto"/>
              <a:cs typeface="Roboto"/>
              <a:sym typeface="Roboto"/>
            </a:endParaRPr>
          </a:p>
          <a:p>
            <a:pPr indent="0" lvl="0" marL="0" marR="0" rtl="0" algn="l">
              <a:lnSpc>
                <a:spcPct val="115000"/>
              </a:lnSpc>
              <a:spcBef>
                <a:spcPts val="1600"/>
              </a:spcBef>
              <a:spcAft>
                <a:spcPts val="0"/>
              </a:spcAft>
              <a:buNone/>
            </a:pPr>
            <a:r>
              <a:t/>
            </a:r>
            <a:endParaRPr sz="1200">
              <a:solidFill>
                <a:srgbClr val="1F2328"/>
              </a:solidFill>
              <a:highlight>
                <a:srgbClr val="FFFFFF"/>
              </a:highlight>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221" name="Google Shape;221;p20"/>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Adaptive Topic Recommendation System through chatbot </a:t>
            </a:r>
            <a:endParaRPr/>
          </a:p>
          <a:p>
            <a:pPr indent="0" lvl="0" marL="0" rtl="0" algn="ctr">
              <a:spcBef>
                <a:spcPts val="0"/>
              </a:spcBef>
              <a:spcAft>
                <a:spcPts val="0"/>
              </a:spcAft>
              <a:buNone/>
            </a:pPr>
            <a:r>
              <a:t/>
            </a:r>
            <a:endParaRPr/>
          </a:p>
        </p:txBody>
      </p:sp>
      <p:grpSp>
        <p:nvGrpSpPr>
          <p:cNvPr id="222" name="Google Shape;222;p20"/>
          <p:cNvGrpSpPr/>
          <p:nvPr/>
        </p:nvGrpSpPr>
        <p:grpSpPr>
          <a:xfrm>
            <a:off x="5491166" y="-27256"/>
            <a:ext cx="3772095" cy="4473455"/>
            <a:chOff x="2991269" y="1153325"/>
            <a:chExt cx="3514811" cy="3252003"/>
          </a:xfrm>
        </p:grpSpPr>
        <p:sp>
          <p:nvSpPr>
            <p:cNvPr id="223" name="Google Shape;223;p20"/>
            <p:cNvSpPr/>
            <p:nvPr/>
          </p:nvSpPr>
          <p:spPr>
            <a:xfrm>
              <a:off x="3477586" y="2585458"/>
              <a:ext cx="2541910" cy="950456"/>
            </a:xfrm>
            <a:custGeom>
              <a:rect b="b" l="l" r="r" t="t"/>
              <a:pathLst>
                <a:path extrusionOk="0" h="43529" w="126826">
                  <a:moveTo>
                    <a:pt x="0" y="20002"/>
                  </a:moveTo>
                  <a:lnTo>
                    <a:pt x="63389" y="43529"/>
                  </a:lnTo>
                  <a:lnTo>
                    <a:pt x="126826" y="19907"/>
                  </a:lnTo>
                  <a:lnTo>
                    <a:pt x="63580" y="0"/>
                  </a:lnTo>
                  <a:close/>
                </a:path>
              </a:pathLst>
            </a:custGeom>
            <a:solidFill>
              <a:srgbClr val="D9D9D9"/>
            </a:solidFill>
            <a:ln>
              <a:noFill/>
            </a:ln>
          </p:spPr>
        </p:sp>
        <p:sp>
          <p:nvSpPr>
            <p:cNvPr id="224" name="Google Shape;224;p20"/>
            <p:cNvSpPr/>
            <p:nvPr/>
          </p:nvSpPr>
          <p:spPr>
            <a:xfrm>
              <a:off x="2991269"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666666"/>
            </a:solidFill>
            <a:ln>
              <a:noFill/>
            </a:ln>
          </p:spPr>
        </p:sp>
        <p:sp>
          <p:nvSpPr>
            <p:cNvPr id="225" name="Google Shape;225;p20"/>
            <p:cNvSpPr/>
            <p:nvPr/>
          </p:nvSpPr>
          <p:spPr>
            <a:xfrm flipH="1">
              <a:off x="4747852"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666666"/>
            </a:solidFill>
            <a:ln>
              <a:noFill/>
            </a:ln>
          </p:spPr>
        </p:sp>
        <p:sp>
          <p:nvSpPr>
            <p:cNvPr id="226" name="Google Shape;226;p20"/>
            <p:cNvSpPr/>
            <p:nvPr/>
          </p:nvSpPr>
          <p:spPr>
            <a:xfrm>
              <a:off x="3969199" y="2001324"/>
              <a:ext cx="1565850" cy="585863"/>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227" name="Google Shape;227;p20"/>
            <p:cNvSpPr/>
            <p:nvPr/>
          </p:nvSpPr>
          <p:spPr>
            <a:xfrm>
              <a:off x="356325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D25E83"/>
            </a:solidFill>
            <a:ln>
              <a:noFill/>
            </a:ln>
          </p:spPr>
        </p:sp>
        <p:sp>
          <p:nvSpPr>
            <p:cNvPr id="228" name="Google Shape;228;p20"/>
            <p:cNvSpPr/>
            <p:nvPr/>
          </p:nvSpPr>
          <p:spPr>
            <a:xfrm flipH="1">
              <a:off x="474936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E07F9E"/>
            </a:solidFill>
            <a:ln>
              <a:noFill/>
            </a:ln>
          </p:spPr>
        </p:sp>
        <p:sp>
          <p:nvSpPr>
            <p:cNvPr id="229" name="Google Shape;229;p20"/>
            <p:cNvSpPr/>
            <p:nvPr/>
          </p:nvSpPr>
          <p:spPr>
            <a:xfrm>
              <a:off x="4059061" y="1153325"/>
              <a:ext cx="693508" cy="1201140"/>
            </a:xfrm>
            <a:custGeom>
              <a:rect b="b" l="l" r="r" t="t"/>
              <a:pathLst>
                <a:path extrusionOk="0" h="16697" w="10635">
                  <a:moveTo>
                    <a:pt x="10635" y="0"/>
                  </a:moveTo>
                  <a:lnTo>
                    <a:pt x="0" y="12722"/>
                  </a:lnTo>
                  <a:lnTo>
                    <a:pt x="10635" y="16697"/>
                  </a:lnTo>
                  <a:close/>
                </a:path>
              </a:pathLst>
            </a:custGeom>
            <a:solidFill>
              <a:srgbClr val="666666"/>
            </a:solidFill>
            <a:ln>
              <a:noFill/>
            </a:ln>
          </p:spPr>
        </p:sp>
        <p:sp>
          <p:nvSpPr>
            <p:cNvPr id="230" name="Google Shape;230;p20"/>
            <p:cNvSpPr/>
            <p:nvPr/>
          </p:nvSpPr>
          <p:spPr>
            <a:xfrm flipH="1">
              <a:off x="4749350" y="1153325"/>
              <a:ext cx="693508" cy="1201140"/>
            </a:xfrm>
            <a:custGeom>
              <a:rect b="b" l="l" r="r" t="t"/>
              <a:pathLst>
                <a:path extrusionOk="0" h="16697" w="10635">
                  <a:moveTo>
                    <a:pt x="10635" y="0"/>
                  </a:moveTo>
                  <a:lnTo>
                    <a:pt x="0" y="12722"/>
                  </a:lnTo>
                  <a:lnTo>
                    <a:pt x="10635" y="16697"/>
                  </a:lnTo>
                  <a:close/>
                </a:path>
              </a:pathLst>
            </a:custGeom>
            <a:solidFill>
              <a:srgbClr val="666666"/>
            </a:solidFill>
            <a:ln>
              <a:noFill/>
            </a:ln>
          </p:spPr>
        </p:sp>
      </p:grpSp>
      <p:cxnSp>
        <p:nvCxnSpPr>
          <p:cNvPr id="231" name="Google Shape;231;p20"/>
          <p:cNvCxnSpPr/>
          <p:nvPr/>
        </p:nvCxnSpPr>
        <p:spPr>
          <a:xfrm rot="10800000">
            <a:off x="3624009" y="813053"/>
            <a:ext cx="2743500" cy="1065300"/>
          </a:xfrm>
          <a:prstGeom prst="straightConnector1">
            <a:avLst/>
          </a:prstGeom>
          <a:noFill/>
          <a:ln cap="flat" cmpd="sng" w="9525">
            <a:solidFill>
              <a:srgbClr val="D45F81"/>
            </a:solidFill>
            <a:prstDash val="solid"/>
            <a:round/>
            <a:headEnd len="sm" w="sm" type="none"/>
            <a:tailEnd len="sm" w="sm" type="none"/>
          </a:ln>
        </p:spPr>
      </p:cxnSp>
      <p:sp>
        <p:nvSpPr>
          <p:cNvPr id="232" name="Google Shape;232;p20"/>
          <p:cNvSpPr txBox="1"/>
          <p:nvPr>
            <p:ph type="title"/>
          </p:nvPr>
        </p:nvSpPr>
        <p:spPr>
          <a:xfrm>
            <a:off x="311700" y="445025"/>
            <a:ext cx="396900" cy="572700"/>
          </a:xfrm>
          <a:prstGeom prst="rect">
            <a:avLst/>
          </a:prstGeom>
          <a:solidFill>
            <a:srgbClr val="D45F81"/>
          </a:solidFill>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rPr>
              <a:t>2</a:t>
            </a:r>
            <a:endParaRPr b="1">
              <a:solidFill>
                <a:schemeClr val="lt1"/>
              </a:solidFill>
            </a:endParaRPr>
          </a:p>
        </p:txBody>
      </p:sp>
      <p:sp>
        <p:nvSpPr>
          <p:cNvPr id="233" name="Google Shape;233;p20"/>
          <p:cNvSpPr txBox="1"/>
          <p:nvPr>
            <p:ph type="title"/>
          </p:nvPr>
        </p:nvSpPr>
        <p:spPr>
          <a:xfrm>
            <a:off x="708600" y="445025"/>
            <a:ext cx="2648400" cy="5727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D45F81"/>
                </a:solidFill>
              </a:rPr>
              <a:t>Youths (learners)</a:t>
            </a:r>
            <a:endParaRPr b="1">
              <a:solidFill>
                <a:srgbClr val="D45F81"/>
              </a:solidFill>
            </a:endParaRPr>
          </a:p>
        </p:txBody>
      </p:sp>
      <p:sp>
        <p:nvSpPr>
          <p:cNvPr id="234" name="Google Shape;234;p20"/>
          <p:cNvSpPr txBox="1"/>
          <p:nvPr/>
        </p:nvSpPr>
        <p:spPr>
          <a:xfrm>
            <a:off x="162625" y="1128950"/>
            <a:ext cx="3916800" cy="154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1" sz="1200">
              <a:solidFill>
                <a:srgbClr val="D25E83"/>
              </a:solidFill>
              <a:latin typeface="Roboto"/>
              <a:ea typeface="Roboto"/>
              <a:cs typeface="Roboto"/>
              <a:sym typeface="Roboto"/>
            </a:endParaRPr>
          </a:p>
          <a:p>
            <a:pPr indent="0" lvl="0" marL="0" rtl="0" algn="r">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Learners will be able to get the personalized topic recommendation based on their overall interest on topics as well as similar topics </a:t>
            </a:r>
            <a:endParaRPr sz="1800">
              <a:solidFill>
                <a:schemeClr val="dk1"/>
              </a:solidFill>
              <a:latin typeface="Roboto"/>
              <a:ea typeface="Roboto"/>
              <a:cs typeface="Roboto"/>
              <a:sym typeface="Roboto"/>
            </a:endParaRPr>
          </a:p>
          <a:p>
            <a:pPr indent="0" lvl="0" marL="0" marR="0" rtl="0" algn="l">
              <a:lnSpc>
                <a:spcPct val="115000"/>
              </a:lnSpc>
              <a:spcBef>
                <a:spcPts val="1600"/>
              </a:spcBef>
              <a:spcAft>
                <a:spcPts val="0"/>
              </a:spcAft>
              <a:buNone/>
            </a:pPr>
            <a:r>
              <a:t/>
            </a:r>
            <a:endParaRPr sz="1200">
              <a:solidFill>
                <a:srgbClr val="1F2328"/>
              </a:solidFill>
              <a:highlight>
                <a:srgbClr val="FFFFFF"/>
              </a:highlight>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p:txBody>
      </p:sp>
      <p:sp>
        <p:nvSpPr>
          <p:cNvPr id="235" name="Google Shape;235;p20"/>
          <p:cNvSpPr/>
          <p:nvPr/>
        </p:nvSpPr>
        <p:spPr>
          <a:xfrm>
            <a:off x="2846250" y="3059025"/>
            <a:ext cx="1516500" cy="545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highlight>
                  <a:srgbClr val="4C55A2"/>
                </a:highlight>
                <a:latin typeface="Roboto Black"/>
                <a:ea typeface="Roboto Black"/>
                <a:cs typeface="Roboto Black"/>
                <a:sym typeface="Roboto Black"/>
              </a:rPr>
              <a:t>64%</a:t>
            </a:r>
            <a:r>
              <a:rPr lang="en" sz="1700">
                <a:latin typeface="Roboto Black"/>
                <a:ea typeface="Roboto Black"/>
                <a:cs typeface="Roboto Black"/>
                <a:sym typeface="Roboto Black"/>
              </a:rPr>
              <a:t>  </a:t>
            </a:r>
            <a:r>
              <a:rPr lang="en" sz="1700">
                <a:latin typeface="Roboto Medium"/>
                <a:ea typeface="Roboto Medium"/>
                <a:cs typeface="Roboto Medium"/>
                <a:sym typeface="Roboto Medium"/>
              </a:rPr>
              <a:t>women</a:t>
            </a:r>
            <a:endParaRPr sz="1700">
              <a:latin typeface="Roboto Medium"/>
              <a:ea typeface="Roboto Medium"/>
              <a:cs typeface="Roboto Medium"/>
              <a:sym typeface="Roboto Medium"/>
            </a:endParaRPr>
          </a:p>
        </p:txBody>
      </p:sp>
      <p:sp>
        <p:nvSpPr>
          <p:cNvPr id="236" name="Google Shape;236;p20"/>
          <p:cNvSpPr/>
          <p:nvPr/>
        </p:nvSpPr>
        <p:spPr>
          <a:xfrm>
            <a:off x="1713000" y="3826113"/>
            <a:ext cx="2003700" cy="572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highlight>
                  <a:srgbClr val="D45F81"/>
                </a:highlight>
                <a:latin typeface="Roboto Black"/>
                <a:ea typeface="Roboto Black"/>
                <a:cs typeface="Roboto Black"/>
                <a:sym typeface="Roboto Black"/>
              </a:rPr>
              <a:t>47% </a:t>
            </a:r>
            <a:r>
              <a:rPr lang="en" sz="1700">
                <a:latin typeface="Roboto Medium"/>
                <a:ea typeface="Roboto Medium"/>
                <a:cs typeface="Roboto Medium"/>
                <a:sym typeface="Roboto Medium"/>
              </a:rPr>
              <a:t> rural regions</a:t>
            </a:r>
            <a:endParaRPr sz="1700">
              <a:latin typeface="Roboto Medium"/>
              <a:ea typeface="Roboto Medium"/>
              <a:cs typeface="Roboto Medium"/>
              <a:sym typeface="Roboto Medium"/>
            </a:endParaRPr>
          </a:p>
        </p:txBody>
      </p:sp>
      <p:sp>
        <p:nvSpPr>
          <p:cNvPr id="237" name="Google Shape;237;p20"/>
          <p:cNvSpPr/>
          <p:nvPr/>
        </p:nvSpPr>
        <p:spPr>
          <a:xfrm>
            <a:off x="508425" y="2995325"/>
            <a:ext cx="1803300" cy="545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highlight>
                  <a:srgbClr val="8FCF5C"/>
                </a:highlight>
                <a:latin typeface="Roboto Black"/>
                <a:ea typeface="Roboto Black"/>
                <a:cs typeface="Roboto Black"/>
                <a:sym typeface="Roboto Black"/>
              </a:rPr>
              <a:t>+77,000+</a:t>
            </a:r>
            <a:r>
              <a:rPr lang="en" sz="1700">
                <a:latin typeface="Roboto Black"/>
                <a:ea typeface="Roboto Black"/>
                <a:cs typeface="Roboto Black"/>
                <a:sym typeface="Roboto Black"/>
              </a:rPr>
              <a:t>  </a:t>
            </a:r>
            <a:r>
              <a:rPr lang="en" sz="1700">
                <a:latin typeface="Roboto Medium"/>
                <a:ea typeface="Roboto Medium"/>
                <a:cs typeface="Roboto Medium"/>
                <a:sym typeface="Roboto Medium"/>
              </a:rPr>
              <a:t>Users</a:t>
            </a:r>
            <a:endParaRPr sz="1700">
              <a:latin typeface="Roboto Medium"/>
              <a:ea typeface="Roboto Medium"/>
              <a:cs typeface="Roboto Medium"/>
              <a:sym typeface="Roboto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1"/>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243" name="Google Shape;243;p21"/>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Adaptive Topic Recommendation System through chatbot </a:t>
            </a:r>
            <a:endParaRPr/>
          </a:p>
          <a:p>
            <a:pPr indent="0" lvl="0" marL="0" rtl="0" algn="ctr">
              <a:spcBef>
                <a:spcPts val="0"/>
              </a:spcBef>
              <a:spcAft>
                <a:spcPts val="0"/>
              </a:spcAft>
              <a:buNone/>
            </a:pPr>
            <a:r>
              <a:t/>
            </a:r>
            <a:endParaRPr/>
          </a:p>
        </p:txBody>
      </p:sp>
      <p:grpSp>
        <p:nvGrpSpPr>
          <p:cNvPr id="244" name="Google Shape;244;p21"/>
          <p:cNvGrpSpPr/>
          <p:nvPr/>
        </p:nvGrpSpPr>
        <p:grpSpPr>
          <a:xfrm>
            <a:off x="-212759" y="-6"/>
            <a:ext cx="3772095" cy="4473455"/>
            <a:chOff x="2991269" y="1153325"/>
            <a:chExt cx="3514811" cy="3252003"/>
          </a:xfrm>
        </p:grpSpPr>
        <p:sp>
          <p:nvSpPr>
            <p:cNvPr id="245" name="Google Shape;245;p21"/>
            <p:cNvSpPr/>
            <p:nvPr/>
          </p:nvSpPr>
          <p:spPr>
            <a:xfrm>
              <a:off x="3477586" y="2585458"/>
              <a:ext cx="2541910" cy="950456"/>
            </a:xfrm>
            <a:custGeom>
              <a:rect b="b" l="l" r="r" t="t"/>
              <a:pathLst>
                <a:path extrusionOk="0" h="43529" w="126826">
                  <a:moveTo>
                    <a:pt x="0" y="20002"/>
                  </a:moveTo>
                  <a:lnTo>
                    <a:pt x="63389" y="43529"/>
                  </a:lnTo>
                  <a:lnTo>
                    <a:pt x="126826" y="19907"/>
                  </a:lnTo>
                  <a:lnTo>
                    <a:pt x="63580" y="0"/>
                  </a:lnTo>
                  <a:close/>
                </a:path>
              </a:pathLst>
            </a:custGeom>
            <a:solidFill>
              <a:srgbClr val="D9D9D9"/>
            </a:solidFill>
            <a:ln>
              <a:noFill/>
            </a:ln>
          </p:spPr>
        </p:sp>
        <p:sp>
          <p:nvSpPr>
            <p:cNvPr id="246" name="Google Shape;246;p21"/>
            <p:cNvSpPr/>
            <p:nvPr/>
          </p:nvSpPr>
          <p:spPr>
            <a:xfrm>
              <a:off x="2991269"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7DBC4C"/>
            </a:solidFill>
            <a:ln>
              <a:noFill/>
            </a:ln>
          </p:spPr>
        </p:sp>
        <p:sp>
          <p:nvSpPr>
            <p:cNvPr id="247" name="Google Shape;247;p21"/>
            <p:cNvSpPr/>
            <p:nvPr/>
          </p:nvSpPr>
          <p:spPr>
            <a:xfrm flipH="1">
              <a:off x="4747852"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A0DB70"/>
            </a:solidFill>
            <a:ln>
              <a:noFill/>
            </a:ln>
          </p:spPr>
        </p:sp>
        <p:sp>
          <p:nvSpPr>
            <p:cNvPr id="248" name="Google Shape;248;p21"/>
            <p:cNvSpPr/>
            <p:nvPr/>
          </p:nvSpPr>
          <p:spPr>
            <a:xfrm>
              <a:off x="3969199" y="2001324"/>
              <a:ext cx="1565850" cy="585863"/>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249" name="Google Shape;249;p21"/>
            <p:cNvSpPr/>
            <p:nvPr/>
          </p:nvSpPr>
          <p:spPr>
            <a:xfrm>
              <a:off x="3563255" y="2275837"/>
              <a:ext cx="1189300" cy="1015326"/>
            </a:xfrm>
            <a:custGeom>
              <a:rect b="b" l="l" r="r" t="t"/>
              <a:pathLst>
                <a:path extrusionOk="0" h="14114" w="18238">
                  <a:moveTo>
                    <a:pt x="6262" y="0"/>
                  </a:moveTo>
                  <a:lnTo>
                    <a:pt x="18238" y="4324"/>
                  </a:lnTo>
                  <a:lnTo>
                    <a:pt x="18238" y="14114"/>
                  </a:lnTo>
                  <a:lnTo>
                    <a:pt x="0" y="7554"/>
                  </a:lnTo>
                  <a:close/>
                </a:path>
              </a:pathLst>
            </a:custGeom>
            <a:solidFill>
              <a:schemeClr val="dk2"/>
            </a:solidFill>
            <a:ln>
              <a:noFill/>
            </a:ln>
          </p:spPr>
        </p:sp>
        <p:sp>
          <p:nvSpPr>
            <p:cNvPr id="250" name="Google Shape;250;p21"/>
            <p:cNvSpPr/>
            <p:nvPr/>
          </p:nvSpPr>
          <p:spPr>
            <a:xfrm flipH="1">
              <a:off x="4749365" y="2275837"/>
              <a:ext cx="1189300" cy="1015326"/>
            </a:xfrm>
            <a:custGeom>
              <a:rect b="b" l="l" r="r" t="t"/>
              <a:pathLst>
                <a:path extrusionOk="0" h="14114" w="18238">
                  <a:moveTo>
                    <a:pt x="6262" y="0"/>
                  </a:moveTo>
                  <a:lnTo>
                    <a:pt x="18238" y="4324"/>
                  </a:lnTo>
                  <a:lnTo>
                    <a:pt x="18238" y="14114"/>
                  </a:lnTo>
                  <a:lnTo>
                    <a:pt x="0" y="7554"/>
                  </a:lnTo>
                  <a:close/>
                </a:path>
              </a:pathLst>
            </a:custGeom>
            <a:solidFill>
              <a:schemeClr val="dk2"/>
            </a:solidFill>
            <a:ln>
              <a:noFill/>
            </a:ln>
          </p:spPr>
        </p:sp>
        <p:sp>
          <p:nvSpPr>
            <p:cNvPr id="251" name="Google Shape;251;p21"/>
            <p:cNvSpPr/>
            <p:nvPr/>
          </p:nvSpPr>
          <p:spPr>
            <a:xfrm>
              <a:off x="4059061" y="1153325"/>
              <a:ext cx="693508" cy="1201140"/>
            </a:xfrm>
            <a:custGeom>
              <a:rect b="b" l="l" r="r" t="t"/>
              <a:pathLst>
                <a:path extrusionOk="0" h="16697" w="10635">
                  <a:moveTo>
                    <a:pt x="10635" y="0"/>
                  </a:moveTo>
                  <a:lnTo>
                    <a:pt x="0" y="12722"/>
                  </a:lnTo>
                  <a:lnTo>
                    <a:pt x="10635" y="16697"/>
                  </a:lnTo>
                  <a:close/>
                </a:path>
              </a:pathLst>
            </a:custGeom>
            <a:solidFill>
              <a:schemeClr val="dk2"/>
            </a:solidFill>
            <a:ln>
              <a:noFill/>
            </a:ln>
          </p:spPr>
        </p:sp>
        <p:sp>
          <p:nvSpPr>
            <p:cNvPr id="252" name="Google Shape;252;p21"/>
            <p:cNvSpPr/>
            <p:nvPr/>
          </p:nvSpPr>
          <p:spPr>
            <a:xfrm flipH="1">
              <a:off x="4749350" y="1153325"/>
              <a:ext cx="693508" cy="1201140"/>
            </a:xfrm>
            <a:custGeom>
              <a:rect b="b" l="l" r="r" t="t"/>
              <a:pathLst>
                <a:path extrusionOk="0" h="16697" w="10635">
                  <a:moveTo>
                    <a:pt x="10635" y="0"/>
                  </a:moveTo>
                  <a:lnTo>
                    <a:pt x="0" y="12722"/>
                  </a:lnTo>
                  <a:lnTo>
                    <a:pt x="10635" y="16697"/>
                  </a:lnTo>
                  <a:close/>
                </a:path>
              </a:pathLst>
            </a:custGeom>
            <a:solidFill>
              <a:schemeClr val="dk2"/>
            </a:solidFill>
            <a:ln>
              <a:noFill/>
            </a:ln>
          </p:spPr>
        </p:sp>
      </p:grpSp>
      <p:cxnSp>
        <p:nvCxnSpPr>
          <p:cNvPr id="253" name="Google Shape;253;p21"/>
          <p:cNvCxnSpPr>
            <a:stCxn id="254" idx="1"/>
          </p:cNvCxnSpPr>
          <p:nvPr/>
        </p:nvCxnSpPr>
        <p:spPr>
          <a:xfrm flipH="1">
            <a:off x="3256200" y="522488"/>
            <a:ext cx="865500" cy="2390400"/>
          </a:xfrm>
          <a:prstGeom prst="straightConnector1">
            <a:avLst/>
          </a:prstGeom>
          <a:noFill/>
          <a:ln cap="flat" cmpd="sng" w="9525">
            <a:solidFill>
              <a:srgbClr val="81B94F"/>
            </a:solidFill>
            <a:prstDash val="solid"/>
            <a:round/>
            <a:headEnd len="sm" w="sm" type="none"/>
            <a:tailEnd len="sm" w="sm" type="none"/>
          </a:ln>
        </p:spPr>
      </p:cxnSp>
      <p:sp>
        <p:nvSpPr>
          <p:cNvPr id="254" name="Google Shape;254;p21"/>
          <p:cNvSpPr txBox="1"/>
          <p:nvPr>
            <p:ph type="title"/>
          </p:nvPr>
        </p:nvSpPr>
        <p:spPr>
          <a:xfrm>
            <a:off x="4121700" y="236138"/>
            <a:ext cx="396900" cy="572700"/>
          </a:xfrm>
          <a:prstGeom prst="rect">
            <a:avLst/>
          </a:prstGeom>
          <a:solidFill>
            <a:srgbClr val="7DBC4C"/>
          </a:solidFill>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rPr>
              <a:t>3</a:t>
            </a:r>
            <a:endParaRPr b="1">
              <a:solidFill>
                <a:schemeClr val="lt1"/>
              </a:solidFill>
            </a:endParaRPr>
          </a:p>
        </p:txBody>
      </p:sp>
      <p:sp>
        <p:nvSpPr>
          <p:cNvPr id="255" name="Google Shape;255;p21"/>
          <p:cNvSpPr txBox="1"/>
          <p:nvPr>
            <p:ph type="title"/>
          </p:nvPr>
        </p:nvSpPr>
        <p:spPr>
          <a:xfrm>
            <a:off x="4518600" y="236150"/>
            <a:ext cx="3370800" cy="5727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81B94F"/>
                </a:solidFill>
              </a:rPr>
              <a:t>Community</a:t>
            </a:r>
            <a:endParaRPr b="1">
              <a:solidFill>
                <a:srgbClr val="81B94F"/>
              </a:solidFill>
            </a:endParaRPr>
          </a:p>
        </p:txBody>
      </p:sp>
      <p:sp>
        <p:nvSpPr>
          <p:cNvPr id="256" name="Google Shape;256;p21"/>
          <p:cNvSpPr txBox="1"/>
          <p:nvPr/>
        </p:nvSpPr>
        <p:spPr>
          <a:xfrm>
            <a:off x="3972625" y="920075"/>
            <a:ext cx="3916800" cy="1243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1" sz="1200">
              <a:solidFill>
                <a:srgbClr val="D25E8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In the community, we are empowering the capability of human potential for an equitable world.</a:t>
            </a:r>
            <a:endParaRPr sz="1800">
              <a:solidFill>
                <a:schemeClr val="dk1"/>
              </a:solidFill>
              <a:latin typeface="Roboto"/>
              <a:ea typeface="Roboto"/>
              <a:cs typeface="Roboto"/>
              <a:sym typeface="Roboto"/>
            </a:endParaRPr>
          </a:p>
          <a:p>
            <a:pPr indent="0" lvl="0" marL="0" marR="0" rtl="0" algn="l">
              <a:lnSpc>
                <a:spcPct val="115000"/>
              </a:lnSpc>
              <a:spcBef>
                <a:spcPts val="1600"/>
              </a:spcBef>
              <a:spcAft>
                <a:spcPts val="0"/>
              </a:spcAft>
              <a:buNone/>
            </a:pPr>
            <a:r>
              <a:t/>
            </a:r>
            <a:endParaRPr sz="1200">
              <a:solidFill>
                <a:srgbClr val="1F2328"/>
              </a:solidFill>
              <a:highlight>
                <a:srgbClr val="FFFFFF"/>
              </a:highlight>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p:txBody>
      </p:sp>
      <p:sp>
        <p:nvSpPr>
          <p:cNvPr id="257" name="Google Shape;257;p21"/>
          <p:cNvSpPr/>
          <p:nvPr/>
        </p:nvSpPr>
        <p:spPr>
          <a:xfrm>
            <a:off x="4121700" y="2802125"/>
            <a:ext cx="2817300" cy="737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highlight>
                  <a:srgbClr val="8FCF5C"/>
                </a:highlight>
                <a:latin typeface="Roboto Black"/>
                <a:ea typeface="Roboto Black"/>
                <a:cs typeface="Roboto Black"/>
                <a:sym typeface="Roboto Black"/>
              </a:rPr>
              <a:t>1.1% (638,000 pax)</a:t>
            </a:r>
            <a:r>
              <a:rPr lang="en" sz="1700">
                <a:latin typeface="Roboto Black"/>
                <a:ea typeface="Roboto Black"/>
                <a:cs typeface="Roboto Black"/>
                <a:sym typeface="Roboto Black"/>
              </a:rPr>
              <a:t>  </a:t>
            </a:r>
            <a:endParaRPr sz="1700">
              <a:latin typeface="Roboto Black"/>
              <a:ea typeface="Roboto Black"/>
              <a:cs typeface="Roboto Black"/>
              <a:sym typeface="Roboto Black"/>
            </a:endParaRPr>
          </a:p>
          <a:p>
            <a:pPr indent="0" lvl="0" marL="0" rtl="0" algn="l">
              <a:spcBef>
                <a:spcPts val="0"/>
              </a:spcBef>
              <a:spcAft>
                <a:spcPts val="0"/>
              </a:spcAft>
              <a:buNone/>
            </a:pPr>
            <a:r>
              <a:rPr lang="en" sz="1700">
                <a:latin typeface="Roboto Medium"/>
                <a:ea typeface="Roboto Medium"/>
                <a:cs typeface="Roboto Medium"/>
                <a:sym typeface="Roboto Medium"/>
              </a:rPr>
              <a:t>of Myanmar Population</a:t>
            </a:r>
            <a:endParaRPr sz="1700">
              <a:latin typeface="Roboto Medium"/>
              <a:ea typeface="Roboto Medium"/>
              <a:cs typeface="Roboto Medium"/>
              <a:sym typeface="Roboto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2"/>
          <p:cNvSpPr txBox="1"/>
          <p:nvPr>
            <p:ph type="title"/>
          </p:nvPr>
        </p:nvSpPr>
        <p:spPr>
          <a:xfrm>
            <a:off x="311700" y="445025"/>
            <a:ext cx="8489100" cy="572700"/>
          </a:xfrm>
          <a:prstGeom prst="rect">
            <a:avLst/>
          </a:prstGeom>
          <a:solidFill>
            <a:srgbClr val="8FCF5C"/>
          </a:solid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Impact</a:t>
            </a:r>
            <a:endParaRPr>
              <a:solidFill>
                <a:schemeClr val="lt1"/>
              </a:solidFill>
            </a:endParaRPr>
          </a:p>
        </p:txBody>
      </p:sp>
      <p:sp>
        <p:nvSpPr>
          <p:cNvPr id="263" name="Google Shape;263;p22"/>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264" name="Google Shape;264;p22"/>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Adaptive Topic Recommendation System through chatbot </a:t>
            </a:r>
            <a:endParaRPr/>
          </a:p>
          <a:p>
            <a:pPr indent="0" lvl="0" marL="0" rtl="0" algn="ctr">
              <a:spcBef>
                <a:spcPts val="0"/>
              </a:spcBef>
              <a:spcAft>
                <a:spcPts val="0"/>
              </a:spcAft>
              <a:buNone/>
            </a:pPr>
            <a:r>
              <a:t/>
            </a:r>
            <a:endParaRPr/>
          </a:p>
        </p:txBody>
      </p:sp>
      <p:grpSp>
        <p:nvGrpSpPr>
          <p:cNvPr id="265" name="Google Shape;265;p22"/>
          <p:cNvGrpSpPr/>
          <p:nvPr/>
        </p:nvGrpSpPr>
        <p:grpSpPr>
          <a:xfrm>
            <a:off x="5692048" y="2700655"/>
            <a:ext cx="2341239" cy="1323167"/>
            <a:chOff x="6038025" y="2598925"/>
            <a:chExt cx="2469661" cy="1384500"/>
          </a:xfrm>
        </p:grpSpPr>
        <p:cxnSp>
          <p:nvCxnSpPr>
            <p:cNvPr id="266" name="Google Shape;266;p22"/>
            <p:cNvCxnSpPr/>
            <p:nvPr/>
          </p:nvCxnSpPr>
          <p:spPr>
            <a:xfrm>
              <a:off x="6038025" y="3312550"/>
              <a:ext cx="582000" cy="0"/>
            </a:xfrm>
            <a:prstGeom prst="straightConnector1">
              <a:avLst/>
            </a:prstGeom>
            <a:noFill/>
            <a:ln cap="flat" cmpd="sng" w="9525">
              <a:solidFill>
                <a:srgbClr val="C2C2C2"/>
              </a:solidFill>
              <a:prstDash val="solid"/>
              <a:round/>
              <a:headEnd len="sm" w="sm" type="none"/>
              <a:tailEnd len="sm" w="sm" type="none"/>
            </a:ln>
          </p:spPr>
        </p:cxnSp>
        <p:sp>
          <p:nvSpPr>
            <p:cNvPr id="267" name="Google Shape;267;p22"/>
            <p:cNvSpPr txBox="1"/>
            <p:nvPr/>
          </p:nvSpPr>
          <p:spPr>
            <a:xfrm>
              <a:off x="6640486" y="2598925"/>
              <a:ext cx="1867200" cy="138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Community</a:t>
              </a:r>
              <a:endParaRPr b="1" sz="1200">
                <a:latin typeface="Roboto"/>
                <a:ea typeface="Roboto"/>
                <a:cs typeface="Roboto"/>
                <a:sym typeface="Roboto"/>
              </a:endParaRPr>
            </a:p>
            <a:p>
              <a:pPr indent="0" lvl="0" marL="0" rtl="0" algn="l">
                <a:spcBef>
                  <a:spcPts val="0"/>
                </a:spcBef>
                <a:spcAft>
                  <a:spcPts val="0"/>
                </a:spcAft>
                <a:buNone/>
              </a:pPr>
              <a:r>
                <a:t/>
              </a:r>
              <a:endParaRPr b="1" sz="1200">
                <a:latin typeface="Roboto"/>
                <a:ea typeface="Roboto"/>
                <a:cs typeface="Roboto"/>
                <a:sym typeface="Roboto"/>
              </a:endParaRPr>
            </a:p>
            <a:p>
              <a:pPr indent="0" lvl="0" marL="0" rtl="0" algn="l">
                <a:spcBef>
                  <a:spcPts val="0"/>
                </a:spcBef>
                <a:spcAft>
                  <a:spcPts val="1600"/>
                </a:spcAft>
                <a:buNone/>
              </a:pPr>
              <a:r>
                <a:rPr lang="en" sz="800">
                  <a:latin typeface="Roboto"/>
                  <a:ea typeface="Roboto"/>
                  <a:cs typeface="Roboto"/>
                  <a:sym typeface="Roboto"/>
                </a:rPr>
                <a:t>In the community, we are empowering the capability of human potential for an equitable world.</a:t>
              </a:r>
              <a:endParaRPr b="1" sz="800">
                <a:latin typeface="Roboto"/>
                <a:ea typeface="Roboto"/>
                <a:cs typeface="Roboto"/>
                <a:sym typeface="Roboto"/>
              </a:endParaRPr>
            </a:p>
          </p:txBody>
        </p:sp>
        <p:sp>
          <p:nvSpPr>
            <p:cNvPr id="268" name="Google Shape;268;p22"/>
            <p:cNvSpPr/>
            <p:nvPr/>
          </p:nvSpPr>
          <p:spPr>
            <a:xfrm>
              <a:off x="6424027" y="3212150"/>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2"/>
            <p:cNvSpPr txBox="1"/>
            <p:nvPr/>
          </p:nvSpPr>
          <p:spPr>
            <a:xfrm>
              <a:off x="6399017" y="3156109"/>
              <a:ext cx="247500" cy="312900"/>
            </a:xfrm>
            <a:prstGeom prst="rect">
              <a:avLst/>
            </a:prstGeom>
            <a:solidFill>
              <a:srgbClr val="7DBC4C"/>
            </a:solid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sz="800">
                <a:solidFill>
                  <a:srgbClr val="FFFFFF"/>
                </a:solidFill>
                <a:latin typeface="Roboto"/>
                <a:ea typeface="Roboto"/>
                <a:cs typeface="Roboto"/>
                <a:sym typeface="Roboto"/>
              </a:endParaRPr>
            </a:p>
          </p:txBody>
        </p:sp>
      </p:grpSp>
      <p:grpSp>
        <p:nvGrpSpPr>
          <p:cNvPr id="270" name="Google Shape;270;p22"/>
          <p:cNvGrpSpPr/>
          <p:nvPr/>
        </p:nvGrpSpPr>
        <p:grpSpPr>
          <a:xfrm>
            <a:off x="571233" y="1982668"/>
            <a:ext cx="2839003" cy="1323167"/>
            <a:chOff x="636321" y="1844098"/>
            <a:chExt cx="2994729" cy="1384500"/>
          </a:xfrm>
        </p:grpSpPr>
        <p:sp>
          <p:nvSpPr>
            <p:cNvPr id="271" name="Google Shape;271;p22"/>
            <p:cNvSpPr txBox="1"/>
            <p:nvPr/>
          </p:nvSpPr>
          <p:spPr>
            <a:xfrm>
              <a:off x="636321" y="1844098"/>
              <a:ext cx="1867200" cy="1384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200">
                  <a:latin typeface="Roboto"/>
                  <a:ea typeface="Roboto"/>
                  <a:cs typeface="Roboto"/>
                  <a:sym typeface="Roboto"/>
                </a:rPr>
                <a:t>Youths (learners)</a:t>
              </a:r>
              <a:endParaRPr b="1" sz="1200">
                <a:latin typeface="Roboto"/>
                <a:ea typeface="Roboto"/>
                <a:cs typeface="Roboto"/>
                <a:sym typeface="Roboto"/>
              </a:endParaRPr>
            </a:p>
            <a:p>
              <a:pPr indent="0" lvl="0" marL="0" rtl="0" algn="r">
                <a:spcBef>
                  <a:spcPts val="0"/>
                </a:spcBef>
                <a:spcAft>
                  <a:spcPts val="0"/>
                </a:spcAft>
                <a:buNone/>
              </a:pPr>
              <a:r>
                <a:t/>
              </a:r>
              <a:endParaRPr b="1" sz="1200">
                <a:latin typeface="Roboto"/>
                <a:ea typeface="Roboto"/>
                <a:cs typeface="Roboto"/>
                <a:sym typeface="Roboto"/>
              </a:endParaRPr>
            </a:p>
            <a:p>
              <a:pPr indent="0" lvl="0" marL="0" rtl="0" algn="r">
                <a:spcBef>
                  <a:spcPts val="0"/>
                </a:spcBef>
                <a:spcAft>
                  <a:spcPts val="1600"/>
                </a:spcAft>
                <a:buNone/>
              </a:pPr>
              <a:r>
                <a:rPr lang="en" sz="800">
                  <a:latin typeface="Roboto"/>
                  <a:ea typeface="Roboto"/>
                  <a:cs typeface="Roboto"/>
                  <a:sym typeface="Roboto"/>
                </a:rPr>
                <a:t>Learners will be able to get the personalized topic recommendation based on their overall interest on topics as well as similar topics. </a:t>
              </a:r>
              <a:endParaRPr b="1" sz="800">
                <a:latin typeface="Roboto"/>
                <a:ea typeface="Roboto"/>
                <a:cs typeface="Roboto"/>
                <a:sym typeface="Roboto"/>
              </a:endParaRPr>
            </a:p>
          </p:txBody>
        </p:sp>
        <p:cxnSp>
          <p:nvCxnSpPr>
            <p:cNvPr id="272" name="Google Shape;272;p22"/>
            <p:cNvCxnSpPr/>
            <p:nvPr/>
          </p:nvCxnSpPr>
          <p:spPr>
            <a:xfrm rot="10800000">
              <a:off x="2587350" y="2536350"/>
              <a:ext cx="1043700" cy="0"/>
            </a:xfrm>
            <a:prstGeom prst="straightConnector1">
              <a:avLst/>
            </a:prstGeom>
            <a:noFill/>
            <a:ln cap="flat" cmpd="sng" w="9525">
              <a:solidFill>
                <a:srgbClr val="C2C2C2"/>
              </a:solidFill>
              <a:prstDash val="solid"/>
              <a:round/>
              <a:headEnd len="sm" w="sm" type="none"/>
              <a:tailEnd len="sm" w="sm" type="none"/>
            </a:ln>
          </p:spPr>
        </p:cxnSp>
        <p:sp>
          <p:nvSpPr>
            <p:cNvPr id="273" name="Google Shape;273;p22"/>
            <p:cNvSpPr/>
            <p:nvPr/>
          </p:nvSpPr>
          <p:spPr>
            <a:xfrm>
              <a:off x="2523501" y="2431050"/>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2"/>
            <p:cNvSpPr txBox="1"/>
            <p:nvPr/>
          </p:nvSpPr>
          <p:spPr>
            <a:xfrm>
              <a:off x="2498491" y="2373759"/>
              <a:ext cx="247500" cy="312900"/>
            </a:xfrm>
            <a:prstGeom prst="rect">
              <a:avLst/>
            </a:prstGeom>
            <a:solidFill>
              <a:srgbClr val="D45F81"/>
            </a:solid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sz="800">
                <a:solidFill>
                  <a:srgbClr val="FFFFFF"/>
                </a:solidFill>
                <a:latin typeface="Roboto"/>
                <a:ea typeface="Roboto"/>
                <a:cs typeface="Roboto"/>
                <a:sym typeface="Roboto"/>
              </a:endParaRPr>
            </a:p>
          </p:txBody>
        </p:sp>
      </p:grpSp>
      <p:cxnSp>
        <p:nvCxnSpPr>
          <p:cNvPr id="275" name="Google Shape;275;p22"/>
          <p:cNvCxnSpPr/>
          <p:nvPr/>
        </p:nvCxnSpPr>
        <p:spPr>
          <a:xfrm>
            <a:off x="4620879" y="1793554"/>
            <a:ext cx="1626000" cy="0"/>
          </a:xfrm>
          <a:prstGeom prst="straightConnector1">
            <a:avLst/>
          </a:prstGeom>
          <a:noFill/>
          <a:ln cap="flat" cmpd="sng" w="9525">
            <a:solidFill>
              <a:srgbClr val="C2C2C2"/>
            </a:solidFill>
            <a:prstDash val="solid"/>
            <a:round/>
            <a:headEnd len="sm" w="sm" type="none"/>
            <a:tailEnd len="sm" w="sm" type="none"/>
          </a:ln>
        </p:spPr>
      </p:cxnSp>
      <p:sp>
        <p:nvSpPr>
          <p:cNvPr id="276" name="Google Shape;276;p22"/>
          <p:cNvSpPr txBox="1"/>
          <p:nvPr/>
        </p:nvSpPr>
        <p:spPr>
          <a:xfrm>
            <a:off x="6275025" y="1180302"/>
            <a:ext cx="1770000" cy="102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4C55A2"/>
                </a:solidFill>
                <a:latin typeface="Roboto"/>
                <a:ea typeface="Roboto"/>
                <a:cs typeface="Roboto"/>
                <a:sym typeface="Roboto"/>
              </a:rPr>
              <a:t>Organization</a:t>
            </a:r>
            <a:endParaRPr b="1" sz="1200">
              <a:solidFill>
                <a:srgbClr val="4C55A2"/>
              </a:solidFill>
              <a:latin typeface="Roboto"/>
              <a:ea typeface="Roboto"/>
              <a:cs typeface="Roboto"/>
              <a:sym typeface="Roboto"/>
            </a:endParaRPr>
          </a:p>
          <a:p>
            <a:pPr indent="0" lvl="0" marL="0" rtl="0" algn="l">
              <a:spcBef>
                <a:spcPts val="0"/>
              </a:spcBef>
              <a:spcAft>
                <a:spcPts val="0"/>
              </a:spcAft>
              <a:buNone/>
            </a:pPr>
            <a:r>
              <a:t/>
            </a:r>
            <a:endParaRPr b="1" sz="1200">
              <a:latin typeface="Roboto"/>
              <a:ea typeface="Roboto"/>
              <a:cs typeface="Roboto"/>
              <a:sym typeface="Roboto"/>
            </a:endParaRPr>
          </a:p>
          <a:p>
            <a:pPr indent="0" lvl="0" marL="0" rtl="0" algn="l">
              <a:spcBef>
                <a:spcPts val="0"/>
              </a:spcBef>
              <a:spcAft>
                <a:spcPts val="1600"/>
              </a:spcAft>
              <a:buNone/>
            </a:pPr>
            <a:r>
              <a:rPr lang="en" sz="800">
                <a:latin typeface="Roboto"/>
                <a:ea typeface="Roboto"/>
                <a:cs typeface="Roboto"/>
                <a:sym typeface="Roboto"/>
              </a:rPr>
              <a:t>Organization will be able to allocate the resources which meets with the demand/goal of the learners. </a:t>
            </a:r>
            <a:endParaRPr b="1" sz="800">
              <a:latin typeface="Roboto"/>
              <a:ea typeface="Roboto"/>
              <a:cs typeface="Roboto"/>
              <a:sym typeface="Roboto"/>
            </a:endParaRPr>
          </a:p>
        </p:txBody>
      </p:sp>
      <p:sp>
        <p:nvSpPr>
          <p:cNvPr id="277" name="Google Shape;277;p22"/>
          <p:cNvSpPr txBox="1"/>
          <p:nvPr/>
        </p:nvSpPr>
        <p:spPr>
          <a:xfrm>
            <a:off x="6004349" y="1643575"/>
            <a:ext cx="234600" cy="299100"/>
          </a:xfrm>
          <a:prstGeom prst="rect">
            <a:avLst/>
          </a:prstGeom>
          <a:solidFill>
            <a:srgbClr val="4C55A2"/>
          </a:solid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sz="800">
              <a:solidFill>
                <a:srgbClr val="FFFFFF"/>
              </a:solidFill>
              <a:latin typeface="Roboto"/>
              <a:ea typeface="Roboto"/>
              <a:cs typeface="Roboto"/>
              <a:sym typeface="Roboto"/>
            </a:endParaRPr>
          </a:p>
        </p:txBody>
      </p:sp>
      <p:grpSp>
        <p:nvGrpSpPr>
          <p:cNvPr id="278" name="Google Shape;278;p22"/>
          <p:cNvGrpSpPr/>
          <p:nvPr/>
        </p:nvGrpSpPr>
        <p:grpSpPr>
          <a:xfrm>
            <a:off x="2636231" y="1320389"/>
            <a:ext cx="3332041" cy="3107939"/>
            <a:chOff x="2991269" y="1153325"/>
            <a:chExt cx="3514811" cy="3252003"/>
          </a:xfrm>
        </p:grpSpPr>
        <p:sp>
          <p:nvSpPr>
            <p:cNvPr id="279" name="Google Shape;279;p22"/>
            <p:cNvSpPr/>
            <p:nvPr/>
          </p:nvSpPr>
          <p:spPr>
            <a:xfrm>
              <a:off x="3477586" y="2585458"/>
              <a:ext cx="2541910" cy="950456"/>
            </a:xfrm>
            <a:custGeom>
              <a:rect b="b" l="l" r="r" t="t"/>
              <a:pathLst>
                <a:path extrusionOk="0" h="43529" w="126826">
                  <a:moveTo>
                    <a:pt x="0" y="20002"/>
                  </a:moveTo>
                  <a:lnTo>
                    <a:pt x="63389" y="43529"/>
                  </a:lnTo>
                  <a:lnTo>
                    <a:pt x="126826" y="19907"/>
                  </a:lnTo>
                  <a:lnTo>
                    <a:pt x="63580" y="0"/>
                  </a:lnTo>
                  <a:close/>
                </a:path>
              </a:pathLst>
            </a:custGeom>
            <a:solidFill>
              <a:srgbClr val="D9D9D9"/>
            </a:solidFill>
            <a:ln>
              <a:noFill/>
            </a:ln>
          </p:spPr>
        </p:sp>
        <p:sp>
          <p:nvSpPr>
            <p:cNvPr id="280" name="Google Shape;280;p22"/>
            <p:cNvSpPr/>
            <p:nvPr/>
          </p:nvSpPr>
          <p:spPr>
            <a:xfrm>
              <a:off x="2991269"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8FCF5C"/>
            </a:solidFill>
            <a:ln>
              <a:noFill/>
            </a:ln>
          </p:spPr>
        </p:sp>
        <p:sp>
          <p:nvSpPr>
            <p:cNvPr id="281" name="Google Shape;281;p22"/>
            <p:cNvSpPr/>
            <p:nvPr/>
          </p:nvSpPr>
          <p:spPr>
            <a:xfrm flipH="1">
              <a:off x="4747852"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A0DB70"/>
            </a:solidFill>
            <a:ln>
              <a:noFill/>
            </a:ln>
          </p:spPr>
        </p:sp>
        <p:sp>
          <p:nvSpPr>
            <p:cNvPr id="282" name="Google Shape;282;p22"/>
            <p:cNvSpPr/>
            <p:nvPr/>
          </p:nvSpPr>
          <p:spPr>
            <a:xfrm>
              <a:off x="3969199" y="2001324"/>
              <a:ext cx="1565850" cy="585863"/>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283" name="Google Shape;283;p22"/>
            <p:cNvSpPr/>
            <p:nvPr/>
          </p:nvSpPr>
          <p:spPr>
            <a:xfrm>
              <a:off x="356325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D25E83"/>
            </a:solidFill>
            <a:ln>
              <a:noFill/>
            </a:ln>
          </p:spPr>
        </p:sp>
        <p:sp>
          <p:nvSpPr>
            <p:cNvPr id="284" name="Google Shape;284;p22"/>
            <p:cNvSpPr/>
            <p:nvPr/>
          </p:nvSpPr>
          <p:spPr>
            <a:xfrm flipH="1">
              <a:off x="474936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E07F9E"/>
            </a:solidFill>
            <a:ln>
              <a:noFill/>
            </a:ln>
          </p:spPr>
        </p:sp>
        <p:sp>
          <p:nvSpPr>
            <p:cNvPr id="285" name="Google Shape;285;p22"/>
            <p:cNvSpPr/>
            <p:nvPr/>
          </p:nvSpPr>
          <p:spPr>
            <a:xfrm>
              <a:off x="4059061" y="1153325"/>
              <a:ext cx="693508" cy="1201140"/>
            </a:xfrm>
            <a:custGeom>
              <a:rect b="b" l="l" r="r" t="t"/>
              <a:pathLst>
                <a:path extrusionOk="0" h="16697" w="10635">
                  <a:moveTo>
                    <a:pt x="10635" y="0"/>
                  </a:moveTo>
                  <a:lnTo>
                    <a:pt x="0" y="12722"/>
                  </a:lnTo>
                  <a:lnTo>
                    <a:pt x="10635" y="16697"/>
                  </a:lnTo>
                  <a:close/>
                </a:path>
              </a:pathLst>
            </a:custGeom>
            <a:solidFill>
              <a:srgbClr val="4D56A1"/>
            </a:solidFill>
            <a:ln>
              <a:noFill/>
            </a:ln>
          </p:spPr>
        </p:sp>
        <p:sp>
          <p:nvSpPr>
            <p:cNvPr id="286" name="Google Shape;286;p22"/>
            <p:cNvSpPr/>
            <p:nvPr/>
          </p:nvSpPr>
          <p:spPr>
            <a:xfrm flipH="1">
              <a:off x="4749350" y="1153325"/>
              <a:ext cx="693508" cy="1201140"/>
            </a:xfrm>
            <a:custGeom>
              <a:rect b="b" l="l" r="r" t="t"/>
              <a:pathLst>
                <a:path extrusionOk="0" h="16697" w="10635">
                  <a:moveTo>
                    <a:pt x="10635" y="0"/>
                  </a:moveTo>
                  <a:lnTo>
                    <a:pt x="0" y="12722"/>
                  </a:lnTo>
                  <a:lnTo>
                    <a:pt x="10635" y="16697"/>
                  </a:lnTo>
                  <a:close/>
                </a:path>
              </a:pathLst>
            </a:custGeom>
            <a:solidFill>
              <a:srgbClr val="5962AF"/>
            </a:solidFill>
            <a:ln>
              <a:noFill/>
            </a:ln>
          </p:spPr>
        </p:sp>
      </p:grpSp>
      <p:sp>
        <p:nvSpPr>
          <p:cNvPr id="287" name="Google Shape;287;p22"/>
          <p:cNvSpPr/>
          <p:nvPr/>
        </p:nvSpPr>
        <p:spPr>
          <a:xfrm>
            <a:off x="1190525" y="3643100"/>
            <a:ext cx="1121100" cy="379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highlight>
                  <a:srgbClr val="4C55A2"/>
                </a:highlight>
                <a:latin typeface="Roboto Black"/>
                <a:ea typeface="Roboto Black"/>
                <a:cs typeface="Roboto Black"/>
                <a:sym typeface="Roboto Black"/>
              </a:rPr>
              <a:t>64%</a:t>
            </a:r>
            <a:r>
              <a:rPr lang="en" sz="1200">
                <a:latin typeface="Roboto Black"/>
                <a:ea typeface="Roboto Black"/>
                <a:cs typeface="Roboto Black"/>
                <a:sym typeface="Roboto Black"/>
              </a:rPr>
              <a:t>  </a:t>
            </a:r>
            <a:r>
              <a:rPr lang="en" sz="1200">
                <a:latin typeface="Roboto Medium"/>
                <a:ea typeface="Roboto Medium"/>
                <a:cs typeface="Roboto Medium"/>
                <a:sym typeface="Roboto Medium"/>
              </a:rPr>
              <a:t>women</a:t>
            </a:r>
            <a:endParaRPr sz="1200">
              <a:latin typeface="Roboto Medium"/>
              <a:ea typeface="Roboto Medium"/>
              <a:cs typeface="Roboto Medium"/>
              <a:sym typeface="Roboto Medium"/>
            </a:endParaRPr>
          </a:p>
        </p:txBody>
      </p:sp>
      <p:sp>
        <p:nvSpPr>
          <p:cNvPr id="288" name="Google Shape;288;p22"/>
          <p:cNvSpPr/>
          <p:nvPr/>
        </p:nvSpPr>
        <p:spPr>
          <a:xfrm>
            <a:off x="1325350" y="4124250"/>
            <a:ext cx="1407600" cy="379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highlight>
                  <a:srgbClr val="D45F81"/>
                </a:highlight>
                <a:latin typeface="Roboto Black"/>
                <a:ea typeface="Roboto Black"/>
                <a:cs typeface="Roboto Black"/>
                <a:sym typeface="Roboto Black"/>
              </a:rPr>
              <a:t>47% </a:t>
            </a:r>
            <a:r>
              <a:rPr lang="en" sz="1200">
                <a:latin typeface="Roboto Medium"/>
                <a:ea typeface="Roboto Medium"/>
                <a:cs typeface="Roboto Medium"/>
                <a:sym typeface="Roboto Medium"/>
              </a:rPr>
              <a:t> rural regions</a:t>
            </a:r>
            <a:endParaRPr sz="1200">
              <a:latin typeface="Roboto Medium"/>
              <a:ea typeface="Roboto Medium"/>
              <a:cs typeface="Roboto Medium"/>
              <a:sym typeface="Roboto Medium"/>
            </a:endParaRPr>
          </a:p>
        </p:txBody>
      </p:sp>
      <p:grpSp>
        <p:nvGrpSpPr>
          <p:cNvPr id="289" name="Google Shape;289;p22"/>
          <p:cNvGrpSpPr/>
          <p:nvPr/>
        </p:nvGrpSpPr>
        <p:grpSpPr>
          <a:xfrm>
            <a:off x="7453808" y="2016900"/>
            <a:ext cx="1079370" cy="827543"/>
            <a:chOff x="4257100" y="1509019"/>
            <a:chExt cx="1298099" cy="1298106"/>
          </a:xfrm>
        </p:grpSpPr>
        <p:grpSp>
          <p:nvGrpSpPr>
            <p:cNvPr id="290" name="Google Shape;290;p22"/>
            <p:cNvGrpSpPr/>
            <p:nvPr/>
          </p:nvGrpSpPr>
          <p:grpSpPr>
            <a:xfrm>
              <a:off x="4257100" y="1509019"/>
              <a:ext cx="1298099" cy="1298106"/>
              <a:chOff x="2970075" y="1543044"/>
              <a:chExt cx="1298099" cy="1298106"/>
            </a:xfrm>
          </p:grpSpPr>
          <p:sp>
            <p:nvSpPr>
              <p:cNvPr id="291" name="Google Shape;291;p22"/>
              <p:cNvSpPr/>
              <p:nvPr/>
            </p:nvSpPr>
            <p:spPr>
              <a:xfrm>
                <a:off x="2970075" y="2192550"/>
                <a:ext cx="649500" cy="647700"/>
              </a:xfrm>
              <a:prstGeom prst="teardrop">
                <a:avLst>
                  <a:gd fmla="val 100000" name="adj"/>
                </a:avLst>
              </a:prstGeom>
              <a:solidFill>
                <a:srgbClr val="8FCF5C"/>
              </a:solidFill>
              <a:ln cap="flat" cmpd="sng" w="9525">
                <a:solidFill>
                  <a:srgbClr val="8FCF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sp>
            <p:nvSpPr>
              <p:cNvPr id="292" name="Google Shape;292;p22"/>
              <p:cNvSpPr/>
              <p:nvPr/>
            </p:nvSpPr>
            <p:spPr>
              <a:xfrm rot="-5400000">
                <a:off x="3618675" y="2192550"/>
                <a:ext cx="649500" cy="647700"/>
              </a:xfrm>
              <a:prstGeom prst="teardrop">
                <a:avLst>
                  <a:gd fmla="val 100000" name="adj"/>
                </a:avLst>
              </a:prstGeom>
              <a:solidFill>
                <a:srgbClr val="4C55A2"/>
              </a:solidFill>
              <a:ln cap="flat" cmpd="sng" w="9525">
                <a:solidFill>
                  <a:srgbClr val="4D56A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sp>
            <p:nvSpPr>
              <p:cNvPr id="293" name="Google Shape;293;p22"/>
              <p:cNvSpPr/>
              <p:nvPr/>
            </p:nvSpPr>
            <p:spPr>
              <a:xfrm rot="10800000">
                <a:off x="3618674" y="1543942"/>
                <a:ext cx="649500" cy="647700"/>
              </a:xfrm>
              <a:prstGeom prst="teardrop">
                <a:avLst>
                  <a:gd fmla="val 100000" name="adj"/>
                </a:avLst>
              </a:prstGeom>
              <a:solidFill>
                <a:srgbClr val="D25E83"/>
              </a:solidFill>
              <a:ln cap="flat" cmpd="sng" w="9525">
                <a:solidFill>
                  <a:srgbClr val="D25E8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sp>
            <p:nvSpPr>
              <p:cNvPr id="294" name="Google Shape;294;p22"/>
              <p:cNvSpPr/>
              <p:nvPr/>
            </p:nvSpPr>
            <p:spPr>
              <a:xfrm rot="5400000">
                <a:off x="2970079" y="1543944"/>
                <a:ext cx="649500" cy="647700"/>
              </a:xfrm>
              <a:prstGeom prst="teardrop">
                <a:avLst>
                  <a:gd fmla="val 100000" name="adj"/>
                </a:avLst>
              </a:prstGeom>
              <a:solidFill>
                <a:srgbClr val="91CADB"/>
              </a:solidFill>
              <a:ln cap="flat" cmpd="sng" w="9525">
                <a:solidFill>
                  <a:srgbClr val="91CA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p>
            </p:txBody>
          </p:sp>
        </p:grpSp>
        <p:sp>
          <p:nvSpPr>
            <p:cNvPr id="295" name="Google Shape;295;p22"/>
            <p:cNvSpPr txBox="1"/>
            <p:nvPr/>
          </p:nvSpPr>
          <p:spPr>
            <a:xfrm>
              <a:off x="4372275" y="2261926"/>
              <a:ext cx="5022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600">
                  <a:solidFill>
                    <a:schemeClr val="lt1"/>
                  </a:solidFill>
                  <a:latin typeface="Roboto"/>
                  <a:ea typeface="Roboto"/>
                  <a:cs typeface="Roboto"/>
                  <a:sym typeface="Roboto"/>
                </a:rPr>
                <a:t>tech</a:t>
              </a:r>
              <a:endParaRPr b="1" sz="600">
                <a:solidFill>
                  <a:schemeClr val="lt1"/>
                </a:solidFill>
                <a:latin typeface="Roboto"/>
                <a:ea typeface="Roboto"/>
                <a:cs typeface="Roboto"/>
                <a:sym typeface="Roboto"/>
              </a:endParaRPr>
            </a:p>
          </p:txBody>
        </p:sp>
        <p:sp>
          <p:nvSpPr>
            <p:cNvPr id="296" name="Google Shape;296;p22"/>
            <p:cNvSpPr txBox="1"/>
            <p:nvPr/>
          </p:nvSpPr>
          <p:spPr>
            <a:xfrm>
              <a:off x="4949900" y="2261926"/>
              <a:ext cx="5022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00">
                  <a:solidFill>
                    <a:schemeClr val="lt1"/>
                  </a:solidFill>
                  <a:latin typeface="Roboto"/>
                  <a:ea typeface="Roboto"/>
                  <a:cs typeface="Roboto"/>
                  <a:sym typeface="Roboto"/>
                </a:rPr>
                <a:t>product</a:t>
              </a:r>
              <a:endParaRPr b="1" sz="500">
                <a:solidFill>
                  <a:schemeClr val="lt1"/>
                </a:solidFill>
                <a:latin typeface="Roboto"/>
                <a:ea typeface="Roboto"/>
                <a:cs typeface="Roboto"/>
                <a:sym typeface="Roboto"/>
              </a:endParaRPr>
            </a:p>
          </p:txBody>
        </p:sp>
        <p:sp>
          <p:nvSpPr>
            <p:cNvPr id="297" name="Google Shape;297;p22"/>
            <p:cNvSpPr txBox="1"/>
            <p:nvPr/>
          </p:nvSpPr>
          <p:spPr>
            <a:xfrm>
              <a:off x="4860650" y="1659271"/>
              <a:ext cx="6807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600">
                  <a:solidFill>
                    <a:schemeClr val="lt1"/>
                  </a:solidFill>
                  <a:latin typeface="Roboto"/>
                  <a:ea typeface="Roboto"/>
                  <a:cs typeface="Roboto"/>
                  <a:sym typeface="Roboto"/>
                </a:rPr>
                <a:t>content</a:t>
              </a:r>
              <a:endParaRPr b="1" sz="600">
                <a:solidFill>
                  <a:schemeClr val="lt1"/>
                </a:solidFill>
                <a:latin typeface="Roboto"/>
                <a:ea typeface="Roboto"/>
                <a:cs typeface="Roboto"/>
                <a:sym typeface="Roboto"/>
              </a:endParaRPr>
            </a:p>
          </p:txBody>
        </p:sp>
        <p:sp>
          <p:nvSpPr>
            <p:cNvPr id="298" name="Google Shape;298;p22"/>
            <p:cNvSpPr txBox="1"/>
            <p:nvPr/>
          </p:nvSpPr>
          <p:spPr>
            <a:xfrm>
              <a:off x="4283025" y="1659271"/>
              <a:ext cx="680700" cy="2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600">
                  <a:solidFill>
                    <a:schemeClr val="lt1"/>
                  </a:solidFill>
                  <a:latin typeface="Roboto"/>
                  <a:ea typeface="Roboto"/>
                  <a:cs typeface="Roboto"/>
                  <a:sym typeface="Roboto"/>
                </a:rPr>
                <a:t>marketing</a:t>
              </a:r>
              <a:endParaRPr b="1" sz="600">
                <a:solidFill>
                  <a:schemeClr val="lt1"/>
                </a:solidFill>
                <a:latin typeface="Roboto"/>
                <a:ea typeface="Roboto"/>
                <a:cs typeface="Roboto"/>
                <a:sym typeface="Roboto"/>
              </a:endParaRPr>
            </a:p>
          </p:txBody>
        </p:sp>
      </p:grpSp>
      <p:sp>
        <p:nvSpPr>
          <p:cNvPr id="299" name="Google Shape;299;p22"/>
          <p:cNvSpPr/>
          <p:nvPr/>
        </p:nvSpPr>
        <p:spPr>
          <a:xfrm>
            <a:off x="6238950" y="3843625"/>
            <a:ext cx="1806000" cy="526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highlight>
                  <a:srgbClr val="8FCF5C"/>
                </a:highlight>
                <a:latin typeface="Roboto Black"/>
                <a:ea typeface="Roboto Black"/>
                <a:cs typeface="Roboto Black"/>
                <a:sym typeface="Roboto Black"/>
              </a:rPr>
              <a:t>1.1% (638,000 pax)</a:t>
            </a:r>
            <a:r>
              <a:rPr lang="en" sz="1200">
                <a:latin typeface="Roboto Black"/>
                <a:ea typeface="Roboto Black"/>
                <a:cs typeface="Roboto Black"/>
                <a:sym typeface="Roboto Black"/>
              </a:rPr>
              <a:t>  </a:t>
            </a:r>
            <a:endParaRPr sz="1200">
              <a:latin typeface="Roboto Black"/>
              <a:ea typeface="Roboto Black"/>
              <a:cs typeface="Roboto Black"/>
              <a:sym typeface="Roboto Black"/>
            </a:endParaRPr>
          </a:p>
          <a:p>
            <a:pPr indent="0" lvl="0" marL="0" rtl="0" algn="l">
              <a:spcBef>
                <a:spcPts val="0"/>
              </a:spcBef>
              <a:spcAft>
                <a:spcPts val="0"/>
              </a:spcAft>
              <a:buNone/>
            </a:pPr>
            <a:r>
              <a:rPr lang="en" sz="1200">
                <a:latin typeface="Roboto Medium"/>
                <a:ea typeface="Roboto Medium"/>
                <a:cs typeface="Roboto Medium"/>
                <a:sym typeface="Roboto Medium"/>
              </a:rPr>
              <a:t>of Myanmar Population</a:t>
            </a:r>
            <a:endParaRPr sz="1200">
              <a:latin typeface="Roboto Medium"/>
              <a:ea typeface="Roboto Medium"/>
              <a:cs typeface="Roboto Medium"/>
              <a:sym typeface="Roboto Medium"/>
            </a:endParaRPr>
          </a:p>
        </p:txBody>
      </p:sp>
      <p:sp>
        <p:nvSpPr>
          <p:cNvPr id="300" name="Google Shape;300;p22"/>
          <p:cNvSpPr/>
          <p:nvPr/>
        </p:nvSpPr>
        <p:spPr>
          <a:xfrm>
            <a:off x="508425" y="3161950"/>
            <a:ext cx="1339500" cy="379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1"/>
                </a:solidFill>
                <a:highlight>
                  <a:srgbClr val="8FCF5C"/>
                </a:highlight>
                <a:latin typeface="Roboto Black"/>
                <a:ea typeface="Roboto Black"/>
                <a:cs typeface="Roboto Black"/>
                <a:sym typeface="Roboto Black"/>
              </a:rPr>
              <a:t>+77,000+</a:t>
            </a:r>
            <a:r>
              <a:rPr lang="en" sz="1200">
                <a:latin typeface="Roboto Black"/>
                <a:ea typeface="Roboto Black"/>
                <a:cs typeface="Roboto Black"/>
                <a:sym typeface="Roboto Black"/>
              </a:rPr>
              <a:t>  </a:t>
            </a:r>
            <a:r>
              <a:rPr lang="en" sz="1200">
                <a:latin typeface="Roboto Medium"/>
                <a:ea typeface="Roboto Medium"/>
                <a:cs typeface="Roboto Medium"/>
                <a:sym typeface="Roboto Medium"/>
              </a:rPr>
              <a:t>Users</a:t>
            </a:r>
            <a:endParaRPr sz="1200">
              <a:latin typeface="Roboto Medium"/>
              <a:ea typeface="Roboto Medium"/>
              <a:cs typeface="Roboto Medium"/>
              <a:sym typeface="Roboto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3"/>
          <p:cNvSpPr txBox="1"/>
          <p:nvPr>
            <p:ph type="title"/>
          </p:nvPr>
        </p:nvSpPr>
        <p:spPr>
          <a:xfrm>
            <a:off x="311700" y="445025"/>
            <a:ext cx="8489100" cy="572700"/>
          </a:xfrm>
          <a:prstGeom prst="rect">
            <a:avLst/>
          </a:prstGeom>
          <a:solidFill>
            <a:srgbClr val="8FCF5C"/>
          </a:solid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Conclusion</a:t>
            </a:r>
            <a:endParaRPr>
              <a:solidFill>
                <a:schemeClr val="lt1"/>
              </a:solidFill>
            </a:endParaRPr>
          </a:p>
        </p:txBody>
      </p:sp>
      <p:sp>
        <p:nvSpPr>
          <p:cNvPr id="306" name="Google Shape;306;p23"/>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307" name="Google Shape;307;p23"/>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Adaptive Topic Recommendation System through chatbot </a:t>
            </a:r>
            <a:endParaRPr/>
          </a:p>
          <a:p>
            <a:pPr indent="0" lvl="0" marL="0" rtl="0" algn="ctr">
              <a:spcBef>
                <a:spcPts val="0"/>
              </a:spcBef>
              <a:spcAft>
                <a:spcPts val="0"/>
              </a:spcAft>
              <a:buNone/>
            </a:pPr>
            <a:r>
              <a:t/>
            </a:r>
            <a:endParaRPr/>
          </a:p>
        </p:txBody>
      </p:sp>
      <p:grpSp>
        <p:nvGrpSpPr>
          <p:cNvPr id="308" name="Google Shape;308;p23"/>
          <p:cNvGrpSpPr/>
          <p:nvPr/>
        </p:nvGrpSpPr>
        <p:grpSpPr>
          <a:xfrm>
            <a:off x="7045098" y="1085958"/>
            <a:ext cx="1837192" cy="1648440"/>
            <a:chOff x="2991269" y="1153325"/>
            <a:chExt cx="3514811" cy="3252003"/>
          </a:xfrm>
        </p:grpSpPr>
        <p:sp>
          <p:nvSpPr>
            <p:cNvPr id="309" name="Google Shape;309;p23"/>
            <p:cNvSpPr/>
            <p:nvPr/>
          </p:nvSpPr>
          <p:spPr>
            <a:xfrm>
              <a:off x="3477586" y="2585458"/>
              <a:ext cx="2541910" cy="950456"/>
            </a:xfrm>
            <a:custGeom>
              <a:rect b="b" l="l" r="r" t="t"/>
              <a:pathLst>
                <a:path extrusionOk="0" h="43529" w="126826">
                  <a:moveTo>
                    <a:pt x="0" y="20002"/>
                  </a:moveTo>
                  <a:lnTo>
                    <a:pt x="63389" y="43529"/>
                  </a:lnTo>
                  <a:lnTo>
                    <a:pt x="126826" y="19907"/>
                  </a:lnTo>
                  <a:lnTo>
                    <a:pt x="63580" y="0"/>
                  </a:lnTo>
                  <a:close/>
                </a:path>
              </a:pathLst>
            </a:custGeom>
            <a:solidFill>
              <a:srgbClr val="D9D9D9"/>
            </a:solidFill>
            <a:ln>
              <a:noFill/>
            </a:ln>
          </p:spPr>
        </p:sp>
        <p:sp>
          <p:nvSpPr>
            <p:cNvPr id="310" name="Google Shape;310;p23"/>
            <p:cNvSpPr/>
            <p:nvPr/>
          </p:nvSpPr>
          <p:spPr>
            <a:xfrm>
              <a:off x="2991269"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8FCF5C"/>
            </a:solidFill>
            <a:ln>
              <a:noFill/>
            </a:ln>
          </p:spPr>
        </p:sp>
        <p:sp>
          <p:nvSpPr>
            <p:cNvPr id="311" name="Google Shape;311;p23"/>
            <p:cNvSpPr/>
            <p:nvPr/>
          </p:nvSpPr>
          <p:spPr>
            <a:xfrm flipH="1">
              <a:off x="4747852"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A0DB70"/>
            </a:solidFill>
            <a:ln>
              <a:noFill/>
            </a:ln>
          </p:spPr>
        </p:sp>
        <p:sp>
          <p:nvSpPr>
            <p:cNvPr id="312" name="Google Shape;312;p23"/>
            <p:cNvSpPr/>
            <p:nvPr/>
          </p:nvSpPr>
          <p:spPr>
            <a:xfrm>
              <a:off x="3969199" y="2001324"/>
              <a:ext cx="1565850" cy="585863"/>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313" name="Google Shape;313;p23"/>
            <p:cNvSpPr/>
            <p:nvPr/>
          </p:nvSpPr>
          <p:spPr>
            <a:xfrm>
              <a:off x="356325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D25E83"/>
            </a:solidFill>
            <a:ln>
              <a:noFill/>
            </a:ln>
          </p:spPr>
        </p:sp>
        <p:sp>
          <p:nvSpPr>
            <p:cNvPr id="314" name="Google Shape;314;p23"/>
            <p:cNvSpPr/>
            <p:nvPr/>
          </p:nvSpPr>
          <p:spPr>
            <a:xfrm flipH="1">
              <a:off x="474936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E07F9E"/>
            </a:solidFill>
            <a:ln>
              <a:noFill/>
            </a:ln>
          </p:spPr>
        </p:sp>
        <p:sp>
          <p:nvSpPr>
            <p:cNvPr id="315" name="Google Shape;315;p23"/>
            <p:cNvSpPr/>
            <p:nvPr/>
          </p:nvSpPr>
          <p:spPr>
            <a:xfrm>
              <a:off x="4059061" y="1153325"/>
              <a:ext cx="693508" cy="1201140"/>
            </a:xfrm>
            <a:custGeom>
              <a:rect b="b" l="l" r="r" t="t"/>
              <a:pathLst>
                <a:path extrusionOk="0" h="16697" w="10635">
                  <a:moveTo>
                    <a:pt x="10635" y="0"/>
                  </a:moveTo>
                  <a:lnTo>
                    <a:pt x="0" y="12722"/>
                  </a:lnTo>
                  <a:lnTo>
                    <a:pt x="10635" y="16697"/>
                  </a:lnTo>
                  <a:close/>
                </a:path>
              </a:pathLst>
            </a:custGeom>
            <a:solidFill>
              <a:srgbClr val="4D56A1"/>
            </a:solidFill>
            <a:ln>
              <a:noFill/>
            </a:ln>
          </p:spPr>
        </p:sp>
        <p:sp>
          <p:nvSpPr>
            <p:cNvPr id="316" name="Google Shape;316;p23"/>
            <p:cNvSpPr/>
            <p:nvPr/>
          </p:nvSpPr>
          <p:spPr>
            <a:xfrm flipH="1">
              <a:off x="4749350" y="1153325"/>
              <a:ext cx="693508" cy="1201140"/>
            </a:xfrm>
            <a:custGeom>
              <a:rect b="b" l="l" r="r" t="t"/>
              <a:pathLst>
                <a:path extrusionOk="0" h="16697" w="10635">
                  <a:moveTo>
                    <a:pt x="10635" y="0"/>
                  </a:moveTo>
                  <a:lnTo>
                    <a:pt x="0" y="12722"/>
                  </a:lnTo>
                  <a:lnTo>
                    <a:pt x="10635" y="16697"/>
                  </a:lnTo>
                  <a:close/>
                </a:path>
              </a:pathLst>
            </a:custGeom>
            <a:solidFill>
              <a:srgbClr val="5962AF"/>
            </a:solidFill>
            <a:ln>
              <a:noFill/>
            </a:ln>
          </p:spPr>
        </p:sp>
      </p:grpSp>
      <p:pic>
        <p:nvPicPr>
          <p:cNvPr id="317" name="Google Shape;317;p23"/>
          <p:cNvPicPr preferRelativeResize="0"/>
          <p:nvPr/>
        </p:nvPicPr>
        <p:blipFill>
          <a:blip r:embed="rId3">
            <a:alphaModFix/>
          </a:blip>
          <a:stretch>
            <a:fillRect/>
          </a:stretch>
        </p:blipFill>
        <p:spPr>
          <a:xfrm>
            <a:off x="311700" y="3353020"/>
            <a:ext cx="1048841" cy="1180880"/>
          </a:xfrm>
          <a:prstGeom prst="rect">
            <a:avLst/>
          </a:prstGeom>
          <a:noFill/>
          <a:ln>
            <a:noFill/>
          </a:ln>
        </p:spPr>
      </p:pic>
      <p:sp>
        <p:nvSpPr>
          <p:cNvPr id="318" name="Google Shape;318;p23"/>
          <p:cNvSpPr txBox="1"/>
          <p:nvPr>
            <p:ph type="title"/>
          </p:nvPr>
        </p:nvSpPr>
        <p:spPr>
          <a:xfrm>
            <a:off x="311700" y="2912225"/>
            <a:ext cx="1048800" cy="3936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D45F81"/>
                </a:solidFill>
              </a:rPr>
              <a:t>Problem</a:t>
            </a:r>
            <a:r>
              <a:rPr b="1" lang="en" sz="1400">
                <a:solidFill>
                  <a:srgbClr val="4C55A2"/>
                </a:solidFill>
              </a:rPr>
              <a:t> </a:t>
            </a:r>
            <a:endParaRPr b="1" sz="1400">
              <a:solidFill>
                <a:srgbClr val="81B94F"/>
              </a:solidFill>
            </a:endParaRPr>
          </a:p>
        </p:txBody>
      </p:sp>
      <p:sp>
        <p:nvSpPr>
          <p:cNvPr id="319" name="Google Shape;319;p23"/>
          <p:cNvSpPr txBox="1"/>
          <p:nvPr>
            <p:ph type="title"/>
          </p:nvPr>
        </p:nvSpPr>
        <p:spPr>
          <a:xfrm>
            <a:off x="6776024" y="1085950"/>
            <a:ext cx="890100" cy="393600"/>
          </a:xfrm>
          <a:prstGeom prst="rect">
            <a:avLst/>
          </a:prstGeom>
          <a:solidFill>
            <a:schemeClr val="lt1"/>
          </a:solidFill>
        </p:spPr>
        <p:txBody>
          <a:bodyPr anchorCtr="0" anchor="t" bIns="91425" lIns="91425" spcFirstLastPara="1" rIns="91425" wrap="square" tIns="91425">
            <a:noAutofit/>
          </a:bodyPr>
          <a:lstStyle/>
          <a:p>
            <a:pPr indent="0" lvl="0" marL="0" rtl="0" algn="ctr">
              <a:spcBef>
                <a:spcPts val="0"/>
              </a:spcBef>
              <a:spcAft>
                <a:spcPts val="0"/>
              </a:spcAft>
              <a:buNone/>
            </a:pPr>
            <a:r>
              <a:rPr b="1" lang="en" sz="1400">
                <a:solidFill>
                  <a:srgbClr val="5962AF"/>
                </a:solidFill>
              </a:rPr>
              <a:t>Impact</a:t>
            </a:r>
            <a:endParaRPr b="1" sz="1400">
              <a:solidFill>
                <a:srgbClr val="5962AF"/>
              </a:solidFill>
            </a:endParaRPr>
          </a:p>
        </p:txBody>
      </p:sp>
      <p:sp>
        <p:nvSpPr>
          <p:cNvPr id="320" name="Google Shape;320;p23"/>
          <p:cNvSpPr/>
          <p:nvPr/>
        </p:nvSpPr>
        <p:spPr>
          <a:xfrm>
            <a:off x="880150" y="2097900"/>
            <a:ext cx="6305800" cy="2395000"/>
          </a:xfrm>
          <a:custGeom>
            <a:rect b="b" l="l" r="r" t="t"/>
            <a:pathLst>
              <a:path extrusionOk="0" h="95800" w="252232">
                <a:moveTo>
                  <a:pt x="0" y="95009"/>
                </a:moveTo>
                <a:cubicBezTo>
                  <a:pt x="3296" y="95009"/>
                  <a:pt x="16720" y="96697"/>
                  <a:pt x="19774" y="95009"/>
                </a:cubicBezTo>
                <a:cubicBezTo>
                  <a:pt x="22829" y="93321"/>
                  <a:pt x="14951" y="86649"/>
                  <a:pt x="18327" y="84881"/>
                </a:cubicBezTo>
                <a:cubicBezTo>
                  <a:pt x="21703" y="83113"/>
                  <a:pt x="35528" y="85846"/>
                  <a:pt x="40029" y="84399"/>
                </a:cubicBezTo>
                <a:cubicBezTo>
                  <a:pt x="44530" y="82952"/>
                  <a:pt x="41316" y="77486"/>
                  <a:pt x="45335" y="76200"/>
                </a:cubicBezTo>
                <a:cubicBezTo>
                  <a:pt x="49354" y="74914"/>
                  <a:pt x="59963" y="78532"/>
                  <a:pt x="64143" y="76683"/>
                </a:cubicBezTo>
                <a:cubicBezTo>
                  <a:pt x="68323" y="74834"/>
                  <a:pt x="64063" y="66314"/>
                  <a:pt x="70413" y="65108"/>
                </a:cubicBezTo>
                <a:cubicBezTo>
                  <a:pt x="76763" y="63902"/>
                  <a:pt x="95411" y="71539"/>
                  <a:pt x="102243" y="69449"/>
                </a:cubicBezTo>
                <a:cubicBezTo>
                  <a:pt x="109075" y="67359"/>
                  <a:pt x="107951" y="56749"/>
                  <a:pt x="111407" y="52569"/>
                </a:cubicBezTo>
                <a:cubicBezTo>
                  <a:pt x="114863" y="48389"/>
                  <a:pt x="117917" y="45978"/>
                  <a:pt x="122981" y="44370"/>
                </a:cubicBezTo>
                <a:cubicBezTo>
                  <a:pt x="128045" y="42762"/>
                  <a:pt x="134958" y="41959"/>
                  <a:pt x="141790" y="42923"/>
                </a:cubicBezTo>
                <a:cubicBezTo>
                  <a:pt x="148622" y="43888"/>
                  <a:pt x="156982" y="52649"/>
                  <a:pt x="163975" y="50157"/>
                </a:cubicBezTo>
                <a:cubicBezTo>
                  <a:pt x="170968" y="47665"/>
                  <a:pt x="174263" y="32233"/>
                  <a:pt x="183748" y="27973"/>
                </a:cubicBezTo>
                <a:cubicBezTo>
                  <a:pt x="193233" y="23713"/>
                  <a:pt x="213409" y="27169"/>
                  <a:pt x="220884" y="24597"/>
                </a:cubicBezTo>
                <a:cubicBezTo>
                  <a:pt x="228359" y="22025"/>
                  <a:pt x="223375" y="16640"/>
                  <a:pt x="228600" y="12540"/>
                </a:cubicBezTo>
                <a:cubicBezTo>
                  <a:pt x="233825" y="8441"/>
                  <a:pt x="248293" y="2090"/>
                  <a:pt x="252232" y="0"/>
                </a:cubicBezTo>
              </a:path>
            </a:pathLst>
          </a:custGeom>
          <a:noFill/>
          <a:ln cap="flat" cmpd="sng" w="19050">
            <a:solidFill>
              <a:schemeClr val="dk2"/>
            </a:solidFill>
            <a:prstDash val="dash"/>
            <a:round/>
            <a:headEnd len="med" w="med" type="none"/>
            <a:tailEnd len="med" w="med" type="none"/>
          </a:ln>
        </p:spPr>
      </p:sp>
      <p:grpSp>
        <p:nvGrpSpPr>
          <p:cNvPr id="321" name="Google Shape;321;p23"/>
          <p:cNvGrpSpPr/>
          <p:nvPr/>
        </p:nvGrpSpPr>
        <p:grpSpPr>
          <a:xfrm>
            <a:off x="3191837" y="2278441"/>
            <a:ext cx="1717183" cy="1598055"/>
            <a:chOff x="2705262" y="1586375"/>
            <a:chExt cx="2898688" cy="2584594"/>
          </a:xfrm>
        </p:grpSpPr>
        <p:sp>
          <p:nvSpPr>
            <p:cNvPr id="322" name="Google Shape;322;p23"/>
            <p:cNvSpPr/>
            <p:nvPr/>
          </p:nvSpPr>
          <p:spPr>
            <a:xfrm rot="10800000">
              <a:off x="2912950" y="2126550"/>
              <a:ext cx="2691000" cy="1930200"/>
            </a:xfrm>
            <a:prstGeom prst="blockArc">
              <a:avLst>
                <a:gd fmla="val 6642460" name="adj1"/>
                <a:gd fmla="val 3012680" name="adj2"/>
                <a:gd fmla="val 6939" name="adj3"/>
              </a:avLst>
            </a:prstGeom>
            <a:solidFill>
              <a:srgbClr val="A0D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 name="Google Shape;323;p23"/>
            <p:cNvGrpSpPr/>
            <p:nvPr/>
          </p:nvGrpSpPr>
          <p:grpSpPr>
            <a:xfrm>
              <a:off x="4513221" y="2037050"/>
              <a:ext cx="890700" cy="458511"/>
              <a:chOff x="4513221" y="2113250"/>
              <a:chExt cx="890700" cy="458511"/>
            </a:xfrm>
          </p:grpSpPr>
          <p:sp>
            <p:nvSpPr>
              <p:cNvPr id="324" name="Google Shape;324;p23"/>
              <p:cNvSpPr/>
              <p:nvPr/>
            </p:nvSpPr>
            <p:spPr>
              <a:xfrm>
                <a:off x="4513221" y="2178161"/>
                <a:ext cx="890700" cy="393600"/>
              </a:xfrm>
              <a:prstGeom prst="roundRect">
                <a:avLst>
                  <a:gd fmla="val 16667" name="adj"/>
                </a:avLst>
              </a:prstGeom>
              <a:solidFill>
                <a:schemeClr val="lt1"/>
              </a:solidFill>
              <a:ln cap="flat" cmpd="sng" w="9525">
                <a:solidFill>
                  <a:srgbClr val="81B94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pic>
            <p:nvPicPr>
              <p:cNvPr id="325" name="Google Shape;325;p23"/>
              <p:cNvPicPr preferRelativeResize="0"/>
              <p:nvPr/>
            </p:nvPicPr>
            <p:blipFill rotWithShape="1">
              <a:blip r:embed="rId4">
                <a:alphaModFix/>
              </a:blip>
              <a:srcRect b="10940" l="2550" r="-2550" t="-10940"/>
              <a:stretch/>
            </p:blipFill>
            <p:spPr>
              <a:xfrm>
                <a:off x="4719042" y="2113250"/>
                <a:ext cx="478844" cy="458497"/>
              </a:xfrm>
              <a:prstGeom prst="rect">
                <a:avLst/>
              </a:prstGeom>
              <a:noFill/>
              <a:ln>
                <a:noFill/>
              </a:ln>
            </p:spPr>
          </p:pic>
        </p:grpSp>
        <p:grpSp>
          <p:nvGrpSpPr>
            <p:cNvPr id="326" name="Google Shape;326;p23"/>
            <p:cNvGrpSpPr/>
            <p:nvPr/>
          </p:nvGrpSpPr>
          <p:grpSpPr>
            <a:xfrm>
              <a:off x="3881236" y="3777370"/>
              <a:ext cx="890700" cy="393600"/>
              <a:chOff x="5000111" y="3195870"/>
              <a:chExt cx="890700" cy="393600"/>
            </a:xfrm>
          </p:grpSpPr>
          <p:sp>
            <p:nvSpPr>
              <p:cNvPr id="327" name="Google Shape;327;p23"/>
              <p:cNvSpPr/>
              <p:nvPr/>
            </p:nvSpPr>
            <p:spPr>
              <a:xfrm>
                <a:off x="5000111" y="3195870"/>
                <a:ext cx="890700" cy="393600"/>
              </a:xfrm>
              <a:prstGeom prst="roundRect">
                <a:avLst>
                  <a:gd fmla="val 16667" name="adj"/>
                </a:avLst>
              </a:prstGeom>
              <a:solidFill>
                <a:schemeClr val="lt1"/>
              </a:solidFill>
              <a:ln cap="flat" cmpd="sng" w="9525">
                <a:solidFill>
                  <a:srgbClr val="81B94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pic>
            <p:nvPicPr>
              <p:cNvPr id="328" name="Google Shape;328;p23"/>
              <p:cNvPicPr preferRelativeResize="0"/>
              <p:nvPr/>
            </p:nvPicPr>
            <p:blipFill rotWithShape="1">
              <a:blip r:embed="rId5">
                <a:alphaModFix/>
              </a:blip>
              <a:srcRect b="0" l="0" r="0" t="0"/>
              <a:stretch/>
            </p:blipFill>
            <p:spPr>
              <a:xfrm>
                <a:off x="5193743" y="3195877"/>
                <a:ext cx="503213" cy="393583"/>
              </a:xfrm>
              <a:prstGeom prst="rect">
                <a:avLst/>
              </a:prstGeom>
              <a:noFill/>
              <a:ln>
                <a:noFill/>
              </a:ln>
            </p:spPr>
          </p:pic>
        </p:grpSp>
        <p:grpSp>
          <p:nvGrpSpPr>
            <p:cNvPr id="329" name="Google Shape;329;p23"/>
            <p:cNvGrpSpPr/>
            <p:nvPr/>
          </p:nvGrpSpPr>
          <p:grpSpPr>
            <a:xfrm>
              <a:off x="2705262" y="2720957"/>
              <a:ext cx="890700" cy="393600"/>
              <a:chOff x="3221687" y="3195870"/>
              <a:chExt cx="890700" cy="393600"/>
            </a:xfrm>
          </p:grpSpPr>
          <p:sp>
            <p:nvSpPr>
              <p:cNvPr id="330" name="Google Shape;330;p23"/>
              <p:cNvSpPr/>
              <p:nvPr/>
            </p:nvSpPr>
            <p:spPr>
              <a:xfrm>
                <a:off x="3221687" y="3195870"/>
                <a:ext cx="890700" cy="393600"/>
              </a:xfrm>
              <a:prstGeom prst="roundRect">
                <a:avLst>
                  <a:gd fmla="val 16667" name="adj"/>
                </a:avLst>
              </a:prstGeom>
              <a:solidFill>
                <a:schemeClr val="lt1"/>
              </a:solidFill>
              <a:ln cap="flat" cmpd="sng" w="9525">
                <a:solidFill>
                  <a:srgbClr val="81B94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pic>
            <p:nvPicPr>
              <p:cNvPr id="331" name="Google Shape;331;p23"/>
              <p:cNvPicPr preferRelativeResize="0"/>
              <p:nvPr/>
            </p:nvPicPr>
            <p:blipFill>
              <a:blip r:embed="rId6">
                <a:alphaModFix/>
              </a:blip>
              <a:stretch>
                <a:fillRect/>
              </a:stretch>
            </p:blipFill>
            <p:spPr>
              <a:xfrm>
                <a:off x="3456488" y="3195877"/>
                <a:ext cx="420878" cy="393583"/>
              </a:xfrm>
              <a:prstGeom prst="rect">
                <a:avLst/>
              </a:prstGeom>
              <a:noFill/>
              <a:ln>
                <a:noFill/>
              </a:ln>
            </p:spPr>
          </p:pic>
        </p:grpSp>
        <p:sp>
          <p:nvSpPr>
            <p:cNvPr id="332" name="Google Shape;332;p23"/>
            <p:cNvSpPr/>
            <p:nvPr/>
          </p:nvSpPr>
          <p:spPr>
            <a:xfrm rot="-1338010">
              <a:off x="3503702" y="1990648"/>
              <a:ext cx="1484746" cy="131701"/>
            </a:xfrm>
            <a:prstGeom prst="rect">
              <a:avLst/>
            </a:prstGeom>
            <a:solidFill>
              <a:srgbClr val="A0DB7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3"/>
            <p:cNvSpPr/>
            <p:nvPr/>
          </p:nvSpPr>
          <p:spPr>
            <a:xfrm rot="4079119">
              <a:off x="4852216" y="1679293"/>
              <a:ext cx="299324" cy="147465"/>
            </a:xfrm>
            <a:prstGeom prst="triangle">
              <a:avLst>
                <a:gd fmla="val 51176" name="adj"/>
              </a:avLst>
            </a:prstGeom>
            <a:solidFill>
              <a:srgbClr val="A0DB7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4" name="Google Shape;334;p23"/>
          <p:cNvSpPr txBox="1"/>
          <p:nvPr>
            <p:ph type="title"/>
          </p:nvPr>
        </p:nvSpPr>
        <p:spPr>
          <a:xfrm>
            <a:off x="3419825" y="1977075"/>
            <a:ext cx="1048800" cy="393600"/>
          </a:xfrm>
          <a:prstGeom prst="rect">
            <a:avLst/>
          </a:prstGeom>
          <a:solidFill>
            <a:schemeClr val="lt1"/>
          </a:solidFill>
        </p:spPr>
        <p:txBody>
          <a:bodyPr anchorCtr="0" anchor="t" bIns="91425" lIns="91425" spcFirstLastPara="1" rIns="91425" wrap="square" tIns="91425">
            <a:noAutofit/>
          </a:bodyPr>
          <a:lstStyle/>
          <a:p>
            <a:pPr indent="0" lvl="0" marL="0" rtl="0" algn="ctr">
              <a:spcBef>
                <a:spcPts val="0"/>
              </a:spcBef>
              <a:spcAft>
                <a:spcPts val="0"/>
              </a:spcAft>
              <a:buNone/>
            </a:pPr>
            <a:r>
              <a:rPr b="1" lang="en" sz="1400">
                <a:solidFill>
                  <a:srgbClr val="81B94F"/>
                </a:solidFill>
              </a:rPr>
              <a:t>Solutions</a:t>
            </a:r>
            <a:endParaRPr b="1" sz="1400">
              <a:solidFill>
                <a:srgbClr val="81B94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24"/>
          <p:cNvPicPr preferRelativeResize="0"/>
          <p:nvPr/>
        </p:nvPicPr>
        <p:blipFill rotWithShape="1">
          <a:blip r:embed="rId3">
            <a:alphaModFix/>
          </a:blip>
          <a:srcRect b="23859" l="-6050" r="6050" t="2066"/>
          <a:stretch/>
        </p:blipFill>
        <p:spPr>
          <a:xfrm>
            <a:off x="2866225" y="583225"/>
            <a:ext cx="4288198" cy="4189257"/>
          </a:xfrm>
          <a:prstGeom prst="rect">
            <a:avLst/>
          </a:prstGeom>
          <a:noFill/>
          <a:ln>
            <a:noFill/>
          </a:ln>
        </p:spPr>
      </p:pic>
      <p:sp>
        <p:nvSpPr>
          <p:cNvPr id="340" name="Google Shape;340;p24"/>
          <p:cNvSpPr/>
          <p:nvPr/>
        </p:nvSpPr>
        <p:spPr>
          <a:xfrm>
            <a:off x="284775" y="-50"/>
            <a:ext cx="4587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24"/>
          <p:cNvSpPr txBox="1"/>
          <p:nvPr/>
        </p:nvSpPr>
        <p:spPr>
          <a:xfrm>
            <a:off x="547550" y="1754225"/>
            <a:ext cx="3800400" cy="753300"/>
          </a:xfrm>
          <a:prstGeom prst="rect">
            <a:avLst/>
          </a:prstGeom>
          <a:solidFill>
            <a:srgbClr val="4D56A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Adaptive Topic Recommendation System</a:t>
            </a:r>
            <a:endParaRPr b="1" sz="1800">
              <a:solidFill>
                <a:schemeClr val="lt1"/>
              </a:solidFill>
              <a:latin typeface="Roboto"/>
              <a:ea typeface="Roboto"/>
              <a:cs typeface="Roboto"/>
              <a:sym typeface="Roboto"/>
            </a:endParaRPr>
          </a:p>
        </p:txBody>
      </p:sp>
      <p:sp>
        <p:nvSpPr>
          <p:cNvPr id="342" name="Google Shape;342;p24"/>
          <p:cNvSpPr txBox="1"/>
          <p:nvPr/>
        </p:nvSpPr>
        <p:spPr>
          <a:xfrm>
            <a:off x="831650" y="2859025"/>
            <a:ext cx="3232200" cy="487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D45F81"/>
                </a:solidFill>
                <a:latin typeface="Roboto"/>
                <a:ea typeface="Roboto"/>
                <a:cs typeface="Roboto"/>
                <a:sym typeface="Roboto"/>
              </a:rPr>
              <a:t>Yamin</a:t>
            </a:r>
            <a:endParaRPr b="1" sz="1800">
              <a:solidFill>
                <a:srgbClr val="D45F81"/>
              </a:solidFill>
              <a:latin typeface="Roboto"/>
              <a:ea typeface="Roboto"/>
              <a:cs typeface="Roboto"/>
              <a:sym typeface="Roboto"/>
            </a:endParaRPr>
          </a:p>
        </p:txBody>
      </p:sp>
      <p:sp>
        <p:nvSpPr>
          <p:cNvPr id="343" name="Google Shape;343;p24"/>
          <p:cNvSpPr txBox="1"/>
          <p:nvPr/>
        </p:nvSpPr>
        <p:spPr>
          <a:xfrm>
            <a:off x="820425" y="2507625"/>
            <a:ext cx="3232200" cy="2928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rgbClr val="D45F81"/>
                </a:solidFill>
                <a:latin typeface="Roboto"/>
                <a:ea typeface="Roboto"/>
                <a:cs typeface="Roboto"/>
                <a:sym typeface="Roboto"/>
              </a:rPr>
              <a:t>by</a:t>
            </a:r>
            <a:endParaRPr sz="1300">
              <a:solidFill>
                <a:srgbClr val="D45F81"/>
              </a:solidFill>
              <a:latin typeface="Roboto"/>
              <a:ea typeface="Roboto"/>
              <a:cs typeface="Roboto"/>
              <a:sym typeface="Roboto"/>
            </a:endParaRPr>
          </a:p>
        </p:txBody>
      </p:sp>
      <p:sp>
        <p:nvSpPr>
          <p:cNvPr id="344" name="Google Shape;344;p24"/>
          <p:cNvSpPr txBox="1"/>
          <p:nvPr/>
        </p:nvSpPr>
        <p:spPr>
          <a:xfrm>
            <a:off x="547550" y="3328625"/>
            <a:ext cx="3800400" cy="487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7DBC4C"/>
                </a:solidFill>
                <a:latin typeface="Roboto"/>
                <a:ea typeface="Roboto"/>
                <a:cs typeface="Roboto"/>
                <a:sym typeface="Roboto"/>
              </a:rPr>
              <a:t>Empowered by ABW (Cohort-II) </a:t>
            </a:r>
            <a:endParaRPr b="1" sz="1100">
              <a:solidFill>
                <a:srgbClr val="7DBC4C"/>
              </a:solidFill>
              <a:latin typeface="Roboto"/>
              <a:ea typeface="Roboto"/>
              <a:cs typeface="Roboto"/>
              <a:sym typeface="Roboto"/>
            </a:endParaRPr>
          </a:p>
        </p:txBody>
      </p:sp>
      <p:sp>
        <p:nvSpPr>
          <p:cNvPr id="345" name="Google Shape;345;p24"/>
          <p:cNvSpPr txBox="1"/>
          <p:nvPr/>
        </p:nvSpPr>
        <p:spPr>
          <a:xfrm>
            <a:off x="820425" y="1249638"/>
            <a:ext cx="3232200" cy="3738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45F81"/>
                </a:solidFill>
                <a:latin typeface="Roboto"/>
                <a:ea typeface="Roboto"/>
                <a:cs typeface="Roboto"/>
                <a:sym typeface="Roboto"/>
              </a:rPr>
              <a:t>THANK YOU</a:t>
            </a:r>
            <a:endParaRPr b="1" sz="1300">
              <a:solidFill>
                <a:srgbClr val="D45F81"/>
              </a:solidFill>
              <a:latin typeface="Roboto"/>
              <a:ea typeface="Roboto"/>
              <a:cs typeface="Roboto"/>
              <a:sym typeface="Roboto"/>
            </a:endParaRPr>
          </a:p>
        </p:txBody>
      </p:sp>
      <p:pic>
        <p:nvPicPr>
          <p:cNvPr id="346" name="Google Shape;346;p24"/>
          <p:cNvPicPr preferRelativeResize="0"/>
          <p:nvPr/>
        </p:nvPicPr>
        <p:blipFill>
          <a:blip r:embed="rId4">
            <a:alphaModFix/>
          </a:blip>
          <a:stretch>
            <a:fillRect/>
          </a:stretch>
        </p:blipFill>
        <p:spPr>
          <a:xfrm>
            <a:off x="547550" y="458950"/>
            <a:ext cx="671650" cy="628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5"/>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352" name="Google Shape;352;p25"/>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Adaptive Topic Recommendation System through chatbot </a:t>
            </a:r>
            <a:endParaRPr/>
          </a:p>
          <a:p>
            <a:pPr indent="0" lvl="0" marL="0" rtl="0" algn="ctr">
              <a:spcBef>
                <a:spcPts val="0"/>
              </a:spcBef>
              <a:spcAft>
                <a:spcPts val="0"/>
              </a:spcAft>
              <a:buNone/>
            </a:pPr>
            <a:r>
              <a:t/>
            </a:r>
            <a:endParaRPr/>
          </a:p>
        </p:txBody>
      </p:sp>
      <p:pic>
        <p:nvPicPr>
          <p:cNvPr id="353" name="Google Shape;353;p25"/>
          <p:cNvPicPr preferRelativeResize="0"/>
          <p:nvPr/>
        </p:nvPicPr>
        <p:blipFill rotWithShape="1">
          <a:blip r:embed="rId3">
            <a:alphaModFix/>
          </a:blip>
          <a:srcRect b="10940" l="2550" r="-2550" t="-10940"/>
          <a:stretch/>
        </p:blipFill>
        <p:spPr>
          <a:xfrm>
            <a:off x="3253462" y="1008298"/>
            <a:ext cx="727926" cy="745335"/>
          </a:xfrm>
          <a:prstGeom prst="rect">
            <a:avLst/>
          </a:prstGeom>
          <a:noFill/>
          <a:ln>
            <a:noFill/>
          </a:ln>
        </p:spPr>
      </p:pic>
      <p:sp>
        <p:nvSpPr>
          <p:cNvPr id="354" name="Google Shape;354;p25"/>
          <p:cNvSpPr/>
          <p:nvPr/>
        </p:nvSpPr>
        <p:spPr>
          <a:xfrm>
            <a:off x="5024769" y="1315146"/>
            <a:ext cx="212100" cy="2019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25"/>
          <p:cNvSpPr/>
          <p:nvPr/>
        </p:nvSpPr>
        <p:spPr>
          <a:xfrm>
            <a:off x="5058972" y="1516909"/>
            <a:ext cx="177900" cy="1683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25"/>
          <p:cNvSpPr/>
          <p:nvPr/>
        </p:nvSpPr>
        <p:spPr>
          <a:xfrm>
            <a:off x="5202654" y="1174917"/>
            <a:ext cx="212100" cy="2019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25"/>
          <p:cNvSpPr/>
          <p:nvPr/>
        </p:nvSpPr>
        <p:spPr>
          <a:xfrm>
            <a:off x="5236878" y="1393148"/>
            <a:ext cx="177900" cy="1683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 name="Google Shape;358;p25"/>
          <p:cNvSpPr/>
          <p:nvPr/>
        </p:nvSpPr>
        <p:spPr>
          <a:xfrm>
            <a:off x="5047407" y="1077720"/>
            <a:ext cx="212100" cy="2019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25"/>
          <p:cNvSpPr/>
          <p:nvPr/>
        </p:nvSpPr>
        <p:spPr>
          <a:xfrm>
            <a:off x="4913137" y="1224849"/>
            <a:ext cx="177900" cy="1683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0" name="Google Shape;360;p25"/>
          <p:cNvSpPr/>
          <p:nvPr/>
        </p:nvSpPr>
        <p:spPr>
          <a:xfrm>
            <a:off x="4913137" y="1462275"/>
            <a:ext cx="177900" cy="168300"/>
          </a:xfrm>
          <a:prstGeom prst="mathPlus">
            <a:avLst>
              <a:gd fmla="val 23520" name="adj1"/>
            </a:avLst>
          </a:prstGeom>
          <a:solidFill>
            <a:srgbClr val="81B94F"/>
          </a:solid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61" name="Google Shape;361;p25"/>
          <p:cNvGrpSpPr/>
          <p:nvPr/>
        </p:nvGrpSpPr>
        <p:grpSpPr>
          <a:xfrm>
            <a:off x="6160506" y="1174884"/>
            <a:ext cx="551840" cy="466283"/>
            <a:chOff x="7483025" y="1689100"/>
            <a:chExt cx="779655" cy="626640"/>
          </a:xfrm>
        </p:grpSpPr>
        <p:sp>
          <p:nvSpPr>
            <p:cNvPr id="362" name="Google Shape;362;p25"/>
            <p:cNvSpPr/>
            <p:nvPr/>
          </p:nvSpPr>
          <p:spPr>
            <a:xfrm>
              <a:off x="7521343" y="1727278"/>
              <a:ext cx="315300" cy="1977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3" name="Google Shape;363;p25"/>
            <p:cNvSpPr/>
            <p:nvPr/>
          </p:nvSpPr>
          <p:spPr>
            <a:xfrm>
              <a:off x="7947730" y="2119231"/>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4" name="Google Shape;364;p25"/>
            <p:cNvSpPr/>
            <p:nvPr/>
          </p:nvSpPr>
          <p:spPr>
            <a:xfrm>
              <a:off x="7715377" y="1845619"/>
              <a:ext cx="315300" cy="2232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25"/>
            <p:cNvSpPr/>
            <p:nvPr/>
          </p:nvSpPr>
          <p:spPr>
            <a:xfrm>
              <a:off x="7715377" y="2030993"/>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25"/>
            <p:cNvSpPr/>
            <p:nvPr/>
          </p:nvSpPr>
          <p:spPr>
            <a:xfrm>
              <a:off x="7483025" y="1925083"/>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p25"/>
            <p:cNvSpPr/>
            <p:nvPr/>
          </p:nvSpPr>
          <p:spPr>
            <a:xfrm>
              <a:off x="7947730" y="1763840"/>
              <a:ext cx="294900" cy="1977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25"/>
            <p:cNvSpPr/>
            <p:nvPr/>
          </p:nvSpPr>
          <p:spPr>
            <a:xfrm>
              <a:off x="8030480" y="1964997"/>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25"/>
            <p:cNvSpPr/>
            <p:nvPr/>
          </p:nvSpPr>
          <p:spPr>
            <a:xfrm>
              <a:off x="7521343" y="2092540"/>
              <a:ext cx="315300" cy="2232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25"/>
            <p:cNvSpPr/>
            <p:nvPr/>
          </p:nvSpPr>
          <p:spPr>
            <a:xfrm>
              <a:off x="7836445" y="1689100"/>
              <a:ext cx="232200" cy="170100"/>
            </a:xfrm>
            <a:prstGeom prst="mathMinus">
              <a:avLst>
                <a:gd fmla="val 23520" name="adj1"/>
              </a:avLst>
            </a:prstGeom>
            <a:solidFill>
              <a:srgbClr val="D45F81"/>
            </a:solid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371" name="Google Shape;371;p25"/>
          <p:cNvPicPr preferRelativeResize="0"/>
          <p:nvPr/>
        </p:nvPicPr>
        <p:blipFill rotWithShape="1">
          <a:blip r:embed="rId4">
            <a:alphaModFix/>
          </a:blip>
          <a:srcRect b="0" l="0" r="0" t="0"/>
          <a:stretch/>
        </p:blipFill>
        <p:spPr>
          <a:xfrm>
            <a:off x="4657310" y="2689550"/>
            <a:ext cx="986314" cy="824945"/>
          </a:xfrm>
          <a:prstGeom prst="rect">
            <a:avLst/>
          </a:prstGeom>
          <a:noFill/>
          <a:ln>
            <a:noFill/>
          </a:ln>
        </p:spPr>
      </p:pic>
      <p:grpSp>
        <p:nvGrpSpPr>
          <p:cNvPr id="372" name="Google Shape;372;p25"/>
          <p:cNvGrpSpPr/>
          <p:nvPr/>
        </p:nvGrpSpPr>
        <p:grpSpPr>
          <a:xfrm>
            <a:off x="6096655" y="2834415"/>
            <a:ext cx="678788" cy="530176"/>
            <a:chOff x="7787375" y="3094700"/>
            <a:chExt cx="770125" cy="719175"/>
          </a:xfrm>
        </p:grpSpPr>
        <p:pic>
          <p:nvPicPr>
            <p:cNvPr id="373" name="Google Shape;373;p25"/>
            <p:cNvPicPr preferRelativeResize="0"/>
            <p:nvPr/>
          </p:nvPicPr>
          <p:blipFill>
            <a:blip r:embed="rId5">
              <a:alphaModFix/>
            </a:blip>
            <a:stretch>
              <a:fillRect/>
            </a:stretch>
          </p:blipFill>
          <p:spPr>
            <a:xfrm>
              <a:off x="7787375" y="3094700"/>
              <a:ext cx="335825" cy="335850"/>
            </a:xfrm>
            <a:prstGeom prst="rect">
              <a:avLst/>
            </a:prstGeom>
            <a:noFill/>
            <a:ln>
              <a:noFill/>
            </a:ln>
          </p:spPr>
        </p:pic>
        <p:pic>
          <p:nvPicPr>
            <p:cNvPr id="374" name="Google Shape;374;p25"/>
            <p:cNvPicPr preferRelativeResize="0"/>
            <p:nvPr/>
          </p:nvPicPr>
          <p:blipFill>
            <a:blip r:embed="rId5">
              <a:alphaModFix/>
            </a:blip>
            <a:stretch>
              <a:fillRect/>
            </a:stretch>
          </p:blipFill>
          <p:spPr>
            <a:xfrm>
              <a:off x="8123200" y="3094700"/>
              <a:ext cx="335825" cy="335850"/>
            </a:xfrm>
            <a:prstGeom prst="rect">
              <a:avLst/>
            </a:prstGeom>
            <a:noFill/>
            <a:ln>
              <a:noFill/>
            </a:ln>
          </p:spPr>
        </p:pic>
        <p:pic>
          <p:nvPicPr>
            <p:cNvPr id="375" name="Google Shape;375;p25"/>
            <p:cNvPicPr preferRelativeResize="0"/>
            <p:nvPr/>
          </p:nvPicPr>
          <p:blipFill>
            <a:blip r:embed="rId5">
              <a:alphaModFix/>
            </a:blip>
            <a:stretch>
              <a:fillRect/>
            </a:stretch>
          </p:blipFill>
          <p:spPr>
            <a:xfrm>
              <a:off x="7885850" y="3478025"/>
              <a:ext cx="335825" cy="335850"/>
            </a:xfrm>
            <a:prstGeom prst="rect">
              <a:avLst/>
            </a:prstGeom>
            <a:noFill/>
            <a:ln>
              <a:noFill/>
            </a:ln>
          </p:spPr>
        </p:pic>
        <p:pic>
          <p:nvPicPr>
            <p:cNvPr id="376" name="Google Shape;376;p25"/>
            <p:cNvPicPr preferRelativeResize="0"/>
            <p:nvPr/>
          </p:nvPicPr>
          <p:blipFill>
            <a:blip r:embed="rId5">
              <a:alphaModFix/>
            </a:blip>
            <a:stretch>
              <a:fillRect/>
            </a:stretch>
          </p:blipFill>
          <p:spPr>
            <a:xfrm>
              <a:off x="8221675" y="3478025"/>
              <a:ext cx="335825" cy="335850"/>
            </a:xfrm>
            <a:prstGeom prst="rect">
              <a:avLst/>
            </a:prstGeom>
            <a:noFill/>
            <a:ln>
              <a:noFill/>
            </a:ln>
          </p:spPr>
        </p:pic>
      </p:grpSp>
      <p:grpSp>
        <p:nvGrpSpPr>
          <p:cNvPr id="377" name="Google Shape;377;p25"/>
          <p:cNvGrpSpPr/>
          <p:nvPr/>
        </p:nvGrpSpPr>
        <p:grpSpPr>
          <a:xfrm>
            <a:off x="3231752" y="2864072"/>
            <a:ext cx="1132903" cy="466300"/>
            <a:chOff x="4632850" y="4014663"/>
            <a:chExt cx="1189525" cy="468454"/>
          </a:xfrm>
        </p:grpSpPr>
        <p:pic>
          <p:nvPicPr>
            <p:cNvPr id="378" name="Google Shape;378;p25"/>
            <p:cNvPicPr preferRelativeResize="0"/>
            <p:nvPr/>
          </p:nvPicPr>
          <p:blipFill>
            <a:blip r:embed="rId6">
              <a:alphaModFix/>
            </a:blip>
            <a:stretch>
              <a:fillRect/>
            </a:stretch>
          </p:blipFill>
          <p:spPr>
            <a:xfrm>
              <a:off x="4632850" y="4014663"/>
              <a:ext cx="468425" cy="468454"/>
            </a:xfrm>
            <a:prstGeom prst="rect">
              <a:avLst/>
            </a:prstGeom>
            <a:noFill/>
            <a:ln>
              <a:noFill/>
            </a:ln>
          </p:spPr>
        </p:pic>
        <p:pic>
          <p:nvPicPr>
            <p:cNvPr id="379" name="Google Shape;379;p25"/>
            <p:cNvPicPr preferRelativeResize="0"/>
            <p:nvPr/>
          </p:nvPicPr>
          <p:blipFill>
            <a:blip r:embed="rId5">
              <a:alphaModFix/>
            </a:blip>
            <a:stretch>
              <a:fillRect/>
            </a:stretch>
          </p:blipFill>
          <p:spPr>
            <a:xfrm>
              <a:off x="5486550" y="4080963"/>
              <a:ext cx="335825" cy="335850"/>
            </a:xfrm>
            <a:prstGeom prst="rect">
              <a:avLst/>
            </a:prstGeom>
            <a:noFill/>
            <a:ln>
              <a:noFill/>
            </a:ln>
          </p:spPr>
        </p:pic>
        <p:cxnSp>
          <p:nvCxnSpPr>
            <p:cNvPr id="380" name="Google Shape;380;p25"/>
            <p:cNvCxnSpPr>
              <a:stCxn id="378" idx="3"/>
              <a:endCxn id="379" idx="1"/>
            </p:cNvCxnSpPr>
            <p:nvPr/>
          </p:nvCxnSpPr>
          <p:spPr>
            <a:xfrm>
              <a:off x="5101275" y="4248890"/>
              <a:ext cx="385200" cy="0"/>
            </a:xfrm>
            <a:prstGeom prst="straightConnector1">
              <a:avLst/>
            </a:prstGeom>
            <a:noFill/>
            <a:ln cap="flat" cmpd="sng" w="9525">
              <a:solidFill>
                <a:schemeClr val="dk2"/>
              </a:solidFill>
              <a:prstDash val="solid"/>
              <a:round/>
              <a:headEnd len="med" w="med" type="none"/>
              <a:tailEnd len="med" w="med" type="triangle"/>
            </a:ln>
          </p:spPr>
        </p:cxnSp>
      </p:grpSp>
      <p:sp>
        <p:nvSpPr>
          <p:cNvPr id="381" name="Google Shape;381;p25"/>
          <p:cNvSpPr/>
          <p:nvPr/>
        </p:nvSpPr>
        <p:spPr>
          <a:xfrm>
            <a:off x="6076311" y="1003626"/>
            <a:ext cx="690600" cy="745200"/>
          </a:xfrm>
          <a:prstGeom prst="ellipse">
            <a:avLst/>
          </a:prstGeom>
          <a:noFill/>
          <a:ln cap="flat" cmpd="sng" w="9525">
            <a:solidFill>
              <a:srgbClr val="D45F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25"/>
          <p:cNvSpPr/>
          <p:nvPr/>
        </p:nvSpPr>
        <p:spPr>
          <a:xfrm>
            <a:off x="4837174" y="1003606"/>
            <a:ext cx="690600" cy="745200"/>
          </a:xfrm>
          <a:prstGeom prst="ellipse">
            <a:avLst/>
          </a:prstGeom>
          <a:noFill/>
          <a:ln cap="flat" cmpd="sng" w="9525">
            <a:solidFill>
              <a:srgbClr val="81B9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83" name="Google Shape;383;p25"/>
          <p:cNvCxnSpPr>
            <a:stCxn id="353" idx="3"/>
            <a:endCxn id="382" idx="2"/>
          </p:cNvCxnSpPr>
          <p:nvPr/>
        </p:nvCxnSpPr>
        <p:spPr>
          <a:xfrm flipH="1" rot="10800000">
            <a:off x="3981388" y="1376165"/>
            <a:ext cx="855900" cy="4800"/>
          </a:xfrm>
          <a:prstGeom prst="straightConnector1">
            <a:avLst/>
          </a:prstGeom>
          <a:noFill/>
          <a:ln cap="flat" cmpd="sng" w="9525">
            <a:solidFill>
              <a:schemeClr val="dk2"/>
            </a:solidFill>
            <a:prstDash val="solid"/>
            <a:round/>
            <a:headEnd len="med" w="med" type="none"/>
            <a:tailEnd len="med" w="med" type="triangle"/>
          </a:ln>
        </p:spPr>
      </p:cxnSp>
      <p:cxnSp>
        <p:nvCxnSpPr>
          <p:cNvPr id="384" name="Google Shape;384;p25"/>
          <p:cNvCxnSpPr>
            <a:stCxn id="353" idx="0"/>
            <a:endCxn id="381" idx="0"/>
          </p:cNvCxnSpPr>
          <p:nvPr/>
        </p:nvCxnSpPr>
        <p:spPr>
          <a:xfrm rot="-5400000">
            <a:off x="5017075" y="-396152"/>
            <a:ext cx="4800" cy="2804100"/>
          </a:xfrm>
          <a:prstGeom prst="bentConnector3">
            <a:avLst>
              <a:gd fmla="val 4278296" name="adj1"/>
            </a:avLst>
          </a:prstGeom>
          <a:noFill/>
          <a:ln cap="flat" cmpd="sng" w="9525">
            <a:solidFill>
              <a:schemeClr val="dk2"/>
            </a:solidFill>
            <a:prstDash val="solid"/>
            <a:round/>
            <a:headEnd len="med" w="med" type="none"/>
            <a:tailEnd len="med" w="med" type="triangle"/>
          </a:ln>
        </p:spPr>
      </p:cxnSp>
      <p:sp>
        <p:nvSpPr>
          <p:cNvPr id="385" name="Google Shape;385;p25"/>
          <p:cNvSpPr txBox="1"/>
          <p:nvPr/>
        </p:nvSpPr>
        <p:spPr>
          <a:xfrm>
            <a:off x="4013171" y="1003606"/>
            <a:ext cx="275400" cy="273600"/>
          </a:xfrm>
          <a:prstGeom prst="rect">
            <a:avLst/>
          </a:prstGeom>
          <a:solidFill>
            <a:srgbClr val="59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rPr>
              <a:t>2</a:t>
            </a:r>
            <a:endParaRPr sz="1800">
              <a:solidFill>
                <a:schemeClr val="lt1"/>
              </a:solidFill>
            </a:endParaRPr>
          </a:p>
        </p:txBody>
      </p:sp>
      <p:cxnSp>
        <p:nvCxnSpPr>
          <p:cNvPr id="386" name="Google Shape;386;p25"/>
          <p:cNvCxnSpPr>
            <a:endCxn id="371" idx="2"/>
          </p:cNvCxnSpPr>
          <p:nvPr/>
        </p:nvCxnSpPr>
        <p:spPr>
          <a:xfrm>
            <a:off x="3628567" y="3399895"/>
            <a:ext cx="1521900" cy="114600"/>
          </a:xfrm>
          <a:prstGeom prst="bentConnector4">
            <a:avLst>
              <a:gd fmla="val -5" name="adj1"/>
              <a:gd fmla="val 253234" name="adj2"/>
            </a:avLst>
          </a:prstGeom>
          <a:noFill/>
          <a:ln cap="flat" cmpd="sng" w="9525">
            <a:solidFill>
              <a:schemeClr val="dk2"/>
            </a:solidFill>
            <a:prstDash val="solid"/>
            <a:round/>
            <a:headEnd len="med" w="med" type="none"/>
            <a:tailEnd len="med" w="med" type="triangle"/>
          </a:ln>
        </p:spPr>
      </p:cxnSp>
      <p:cxnSp>
        <p:nvCxnSpPr>
          <p:cNvPr id="387" name="Google Shape;387;p25"/>
          <p:cNvCxnSpPr>
            <a:endCxn id="371" idx="2"/>
          </p:cNvCxnSpPr>
          <p:nvPr/>
        </p:nvCxnSpPr>
        <p:spPr>
          <a:xfrm flipH="1">
            <a:off x="5150467" y="3437995"/>
            <a:ext cx="1471200" cy="76500"/>
          </a:xfrm>
          <a:prstGeom prst="bentConnector4">
            <a:avLst>
              <a:gd fmla="val -4" name="adj1"/>
              <a:gd fmla="val 329408" name="adj2"/>
            </a:avLst>
          </a:prstGeom>
          <a:noFill/>
          <a:ln cap="flat" cmpd="sng" w="9525">
            <a:solidFill>
              <a:schemeClr val="dk2"/>
            </a:solidFill>
            <a:prstDash val="solid"/>
            <a:round/>
            <a:headEnd len="med" w="med" type="none"/>
            <a:tailEnd len="med" w="med" type="triangle"/>
          </a:ln>
        </p:spPr>
      </p:cxnSp>
      <p:sp>
        <p:nvSpPr>
          <p:cNvPr id="388" name="Google Shape;388;p25"/>
          <p:cNvSpPr txBox="1"/>
          <p:nvPr/>
        </p:nvSpPr>
        <p:spPr>
          <a:xfrm>
            <a:off x="5002800" y="3724173"/>
            <a:ext cx="295800" cy="247800"/>
          </a:xfrm>
          <a:prstGeom prst="rect">
            <a:avLst/>
          </a:prstGeom>
          <a:solidFill>
            <a:srgbClr val="59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rPr>
              <a:t>1</a:t>
            </a:r>
            <a:endParaRPr sz="1800">
              <a:solidFill>
                <a:schemeClr val="lt1"/>
              </a:solidFill>
            </a:endParaRPr>
          </a:p>
        </p:txBody>
      </p:sp>
      <p:sp>
        <p:nvSpPr>
          <p:cNvPr id="389" name="Google Shape;389;p25"/>
          <p:cNvSpPr txBox="1"/>
          <p:nvPr/>
        </p:nvSpPr>
        <p:spPr>
          <a:xfrm>
            <a:off x="5643604" y="1859487"/>
            <a:ext cx="275400" cy="273600"/>
          </a:xfrm>
          <a:prstGeom prst="rect">
            <a:avLst/>
          </a:prstGeom>
          <a:solidFill>
            <a:srgbClr val="5962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rPr>
              <a:t>3</a:t>
            </a:r>
            <a:endParaRPr sz="1800">
              <a:solidFill>
                <a:schemeClr val="lt1"/>
              </a:solidFill>
            </a:endParaRPr>
          </a:p>
        </p:txBody>
      </p:sp>
      <p:pic>
        <p:nvPicPr>
          <p:cNvPr id="390" name="Google Shape;390;p25"/>
          <p:cNvPicPr preferRelativeResize="0"/>
          <p:nvPr/>
        </p:nvPicPr>
        <p:blipFill>
          <a:blip r:embed="rId7">
            <a:alphaModFix/>
          </a:blip>
          <a:stretch>
            <a:fillRect/>
          </a:stretch>
        </p:blipFill>
        <p:spPr>
          <a:xfrm>
            <a:off x="2186063" y="1815974"/>
            <a:ext cx="855599" cy="855601"/>
          </a:xfrm>
          <a:prstGeom prst="rect">
            <a:avLst/>
          </a:prstGeom>
          <a:noFill/>
          <a:ln>
            <a:noFill/>
          </a:ln>
        </p:spPr>
      </p:pic>
      <p:cxnSp>
        <p:nvCxnSpPr>
          <p:cNvPr id="391" name="Google Shape;391;p25"/>
          <p:cNvCxnSpPr>
            <a:stCxn id="371" idx="0"/>
            <a:endCxn id="390" idx="3"/>
          </p:cNvCxnSpPr>
          <p:nvPr/>
        </p:nvCxnSpPr>
        <p:spPr>
          <a:xfrm flipH="1" rot="5400000">
            <a:off x="3873217" y="1412300"/>
            <a:ext cx="445800" cy="2108700"/>
          </a:xfrm>
          <a:prstGeom prst="bentConnector2">
            <a:avLst/>
          </a:prstGeom>
          <a:noFill/>
          <a:ln cap="flat" cmpd="sng" w="9525">
            <a:solidFill>
              <a:schemeClr val="dk2"/>
            </a:solidFill>
            <a:prstDash val="solid"/>
            <a:round/>
            <a:headEnd len="med" w="med" type="none"/>
            <a:tailEnd len="med" w="med" type="triangle"/>
          </a:ln>
        </p:spPr>
      </p:cxnSp>
      <p:cxnSp>
        <p:nvCxnSpPr>
          <p:cNvPr id="392" name="Google Shape;392;p25"/>
          <p:cNvCxnSpPr>
            <a:stCxn id="381" idx="4"/>
            <a:endCxn id="390" idx="3"/>
          </p:cNvCxnSpPr>
          <p:nvPr/>
        </p:nvCxnSpPr>
        <p:spPr>
          <a:xfrm rot="5400000">
            <a:off x="4484211" y="306426"/>
            <a:ext cx="495000" cy="3379800"/>
          </a:xfrm>
          <a:prstGeom prst="bentConnector2">
            <a:avLst/>
          </a:prstGeom>
          <a:noFill/>
          <a:ln cap="flat" cmpd="sng" w="9525">
            <a:solidFill>
              <a:schemeClr val="dk2"/>
            </a:solidFill>
            <a:prstDash val="solid"/>
            <a:round/>
            <a:headEnd len="med" w="med" type="none"/>
            <a:tailEnd len="med" w="med" type="triangle"/>
          </a:ln>
        </p:spPr>
      </p:cxnSp>
      <p:cxnSp>
        <p:nvCxnSpPr>
          <p:cNvPr id="393" name="Google Shape;393;p25"/>
          <p:cNvCxnSpPr>
            <a:endCxn id="390" idx="3"/>
          </p:cNvCxnSpPr>
          <p:nvPr/>
        </p:nvCxnSpPr>
        <p:spPr>
          <a:xfrm flipH="1">
            <a:off x="3041662" y="1748775"/>
            <a:ext cx="2140800" cy="495000"/>
          </a:xfrm>
          <a:prstGeom prst="bentConnector3">
            <a:avLst>
              <a:gd fmla="val 36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6"/>
          <p:cNvSpPr txBox="1"/>
          <p:nvPr>
            <p:ph idx="1" type="subTitle"/>
          </p:nvPr>
        </p:nvSpPr>
        <p:spPr>
          <a:xfrm>
            <a:off x="88350" y="4683900"/>
            <a:ext cx="779700" cy="2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Nov 2023</a:t>
            </a:r>
            <a:endParaRPr/>
          </a:p>
        </p:txBody>
      </p:sp>
      <p:sp>
        <p:nvSpPr>
          <p:cNvPr id="399" name="Google Shape;399;p26"/>
          <p:cNvSpPr txBox="1"/>
          <p:nvPr>
            <p:ph idx="1" type="subTitle"/>
          </p:nvPr>
        </p:nvSpPr>
        <p:spPr>
          <a:xfrm>
            <a:off x="868150" y="4683900"/>
            <a:ext cx="7225200" cy="20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Adaptive Topic Recommendation System through chatbot </a:t>
            </a:r>
            <a:endParaRPr/>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